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91" r:id="rId5"/>
    <p:sldId id="283" r:id="rId6"/>
    <p:sldId id="293" r:id="rId7"/>
    <p:sldId id="294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4EB"/>
    <a:srgbClr val="F57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726"/>
  </p:normalViewPr>
  <p:slideViewPr>
    <p:cSldViewPr snapToGrid="0">
      <p:cViewPr varScale="1">
        <p:scale>
          <a:sx n="120" d="100"/>
          <a:sy n="120" d="100"/>
        </p:scale>
        <p:origin x="98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5E772D-C02F-37B4-A0A7-05BB8041C0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0A8BC-A2B1-6BBB-A5C6-13925D0BE0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B70C7-0E19-4446-8B55-D946CA5BED26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CA538-3090-6EE9-7910-94408A489F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F7DF5-B0EF-1FE0-3909-8516F7B698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39135-7933-974A-904F-26ADA4CF5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74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43673-A46E-DC46-A1A5-29A93DD35BDB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E9DAA-1413-D544-8A16-8462D8476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5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1AC6-6251-73E4-15C5-E849284B790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186" y="1166357"/>
            <a:ext cx="9394521" cy="1526739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/>
              <a:t>Trent AI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3B23F-6F71-395E-EAA3-F27F3399F4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2186" y="4321479"/>
            <a:ext cx="9394521" cy="46346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latin typeface="Avenir Book" panose="020005030200000200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C4286B1-1885-703C-2FD6-07BAC9C011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51555" y="2737393"/>
            <a:ext cx="9394521" cy="1526739"/>
          </a:xfrm>
        </p:spPr>
        <p:txBody>
          <a:bodyPr>
            <a:noAutofit/>
          </a:bodyPr>
          <a:lstStyle>
            <a:lvl1pPr marL="0" indent="0">
              <a:buNone/>
              <a:defRPr sz="6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>
                <a:solidFill>
                  <a:schemeClr val="accent4"/>
                </a:solidFill>
              </a:rPr>
              <a:t>Presentation Template</a:t>
            </a:r>
            <a:endParaRPr lang="en-US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C6212C5-4D29-B14E-2484-3EB9EEA1D5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52" b="31011"/>
          <a:stretch/>
        </p:blipFill>
        <p:spPr>
          <a:xfrm>
            <a:off x="9573658" y="348025"/>
            <a:ext cx="2213072" cy="80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99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40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1CBB-4418-9AE2-B675-2F3A36D387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3696222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Table of Contents</a:t>
            </a:r>
            <a:endParaRPr lang="en-US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BA4C6C44-4244-2318-2326-AE50121DF4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2489" y="6280977"/>
            <a:ext cx="992061" cy="32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3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11C7-6D08-323A-AA03-2EF00BF7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382" y="1430502"/>
            <a:ext cx="5264150" cy="2766848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GB"/>
              <a:t>Section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463DE-1A26-990C-54DD-4141E6C650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6382" y="4269505"/>
            <a:ext cx="5264150" cy="145502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  <a:latin typeface="Avenir Book" panose="02000503020000020003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Section Subtitle</a:t>
            </a: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4E9CAEE7-8F3C-1C8E-0A3B-D0985BEEF0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46707" y="6111265"/>
            <a:ext cx="1405265" cy="46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1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A64C-80CA-567B-47F2-5C3839E3E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7826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D9A1C03-2F96-2F71-D82B-7CA223D83A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52" b="31011"/>
          <a:stretch/>
        </p:blipFill>
        <p:spPr>
          <a:xfrm>
            <a:off x="10857769" y="185378"/>
            <a:ext cx="992061" cy="35949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EDC14-BC32-BE4B-DD4C-0EA751D811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10080"/>
            <a:ext cx="7513320" cy="3941763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1pPr>
            <a:lvl2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2pPr>
            <a:lvl3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0B2AF-E0AD-6ED5-B4AA-2B259E93C5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29218" y="6195218"/>
            <a:ext cx="662782" cy="6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1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A64C-80CA-567B-47F2-5C3839E3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D9A1C03-2F96-2F71-D82B-7CA223D83A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52" b="31011"/>
          <a:stretch/>
        </p:blipFill>
        <p:spPr>
          <a:xfrm>
            <a:off x="10871786" y="6265630"/>
            <a:ext cx="992061" cy="35949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EDC14-BC32-BE4B-DD4C-0EA751D811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10080"/>
            <a:ext cx="8011160" cy="3941763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latin typeface="Avenir Book" panose="02000503020000020003" pitchFamily="2" charset="0"/>
              </a:defRPr>
            </a:lvl1pPr>
            <a:lvl2pPr>
              <a:defRPr sz="2400">
                <a:latin typeface="Avenir Book" panose="02000503020000020003" pitchFamily="2" charset="0"/>
              </a:defRPr>
            </a:lvl2pPr>
            <a:lvl3pPr>
              <a:defRPr sz="2400">
                <a:latin typeface="Avenir Book" panose="02000503020000020003" pitchFamily="2" charset="0"/>
              </a:defRPr>
            </a:lvl3pPr>
            <a:lvl4pPr>
              <a:defRPr sz="2400">
                <a:latin typeface="Avenir Book" panose="02000503020000020003" pitchFamily="2" charset="0"/>
              </a:defRPr>
            </a:lvl4pPr>
            <a:lvl5pPr>
              <a:defRPr sz="2400">
                <a:latin typeface="Avenir Book" panose="02000503020000020003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049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 - 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A64C-80CA-567B-47F2-5C3839E3E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848" y="365125"/>
            <a:ext cx="7719951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D9A1C03-2F96-2F71-D82B-7CA223D83A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52" b="31011"/>
          <a:stretch/>
        </p:blipFill>
        <p:spPr>
          <a:xfrm>
            <a:off x="10411082" y="6098685"/>
            <a:ext cx="1452765" cy="526439"/>
          </a:xfrm>
          <a:prstGeom prst="rect">
            <a:avLst/>
          </a:prstGeom>
        </p:spPr>
      </p:pic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B3613728-B18E-1BDE-EC91-CABB115729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82489" y="6280977"/>
            <a:ext cx="992061" cy="326148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D19BD3C-7FC3-F5FD-A7EB-26587A137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3847" y="1883738"/>
            <a:ext cx="7719951" cy="3941763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1pPr>
            <a:lvl2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2pPr>
            <a:lvl3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7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- 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A64C-80CA-567B-47F2-5C3839E3E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848" y="365125"/>
            <a:ext cx="7719951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D9A1C03-2F96-2F71-D82B-7CA223D83A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52" b="31011"/>
          <a:stretch/>
        </p:blipFill>
        <p:spPr>
          <a:xfrm>
            <a:off x="10411082" y="6098685"/>
            <a:ext cx="1452765" cy="526439"/>
          </a:xfrm>
          <a:prstGeom prst="rect">
            <a:avLst/>
          </a:prstGeom>
        </p:spPr>
      </p:pic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B3613728-B18E-1BDE-EC91-CABB115729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82489" y="6280977"/>
            <a:ext cx="992061" cy="326148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F1E4767-3138-063C-7B4A-C84F7ECFD3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3848" y="1923805"/>
            <a:ext cx="7719951" cy="3941763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latin typeface="Avenir Book" panose="02000503020000020003" pitchFamily="2" charset="0"/>
              </a:defRPr>
            </a:lvl1pPr>
            <a:lvl2pPr>
              <a:defRPr sz="2400">
                <a:latin typeface="Avenir Book" panose="02000503020000020003" pitchFamily="2" charset="0"/>
              </a:defRPr>
            </a:lvl2pPr>
            <a:lvl3pPr>
              <a:defRPr sz="2400">
                <a:latin typeface="Avenir Book" panose="02000503020000020003" pitchFamily="2" charset="0"/>
              </a:defRPr>
            </a:lvl3pPr>
            <a:lvl4pPr>
              <a:defRPr sz="2400">
                <a:latin typeface="Avenir Book" panose="02000503020000020003" pitchFamily="2" charset="0"/>
              </a:defRPr>
            </a:lvl4pPr>
            <a:lvl5pPr>
              <a:defRPr sz="2400">
                <a:latin typeface="Avenir Book" panose="02000503020000020003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61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A64C-80CA-567B-47F2-5C3839E3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9300B8E4-634C-F9F0-15B2-3F5FE93C62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2489" y="6280977"/>
            <a:ext cx="992061" cy="326148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6141FCA-7924-A64F-3C1E-888FFE92CA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10080"/>
            <a:ext cx="7513320" cy="3941763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1pPr>
            <a:lvl2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2pPr>
            <a:lvl3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>
              <a:spcAft>
                <a:spcPts val="600"/>
              </a:spcAft>
              <a:defRPr sz="200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8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8FD57C6-8EE9-62D9-DE3D-DD2C9745CF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2752" b="31011"/>
          <a:stretch/>
        </p:blipFill>
        <p:spPr>
          <a:xfrm>
            <a:off x="10882489" y="6269508"/>
            <a:ext cx="981358" cy="3556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F7A64C-80CA-567B-47F2-5C3839E3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1CE5A92-069C-6AFF-683A-B4C6802F19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10080"/>
            <a:ext cx="7513320" cy="3941763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2000">
                <a:solidFill>
                  <a:schemeClr val="bg1"/>
                </a:solidFill>
                <a:latin typeface="Avenir Book" panose="02000503020000020003" pitchFamily="2" charset="0"/>
              </a:defRPr>
            </a:lvl1pPr>
            <a:lvl2pPr>
              <a:spcAft>
                <a:spcPts val="600"/>
              </a:spcAft>
              <a:defRPr sz="2000">
                <a:solidFill>
                  <a:schemeClr val="bg1"/>
                </a:solidFill>
                <a:latin typeface="Avenir Book" panose="02000503020000020003" pitchFamily="2" charset="0"/>
              </a:defRPr>
            </a:lvl2pPr>
            <a:lvl3pPr>
              <a:spcAft>
                <a:spcPts val="600"/>
              </a:spcAft>
              <a:defRPr sz="2000">
                <a:solidFill>
                  <a:schemeClr val="bg1"/>
                </a:solidFill>
                <a:latin typeface="Avenir Book" panose="02000503020000020003" pitchFamily="2" charset="0"/>
              </a:defRPr>
            </a:lvl3pPr>
            <a:lvl4pPr>
              <a:spcAft>
                <a:spcPts val="600"/>
              </a:spcAft>
              <a:defRPr sz="2000">
                <a:solidFill>
                  <a:schemeClr val="bg1"/>
                </a:solidFill>
                <a:latin typeface="Avenir Book" panose="02000503020000020003" pitchFamily="2" charset="0"/>
              </a:defRPr>
            </a:lvl4pPr>
            <a:lvl5pPr>
              <a:spcAft>
                <a:spcPts val="600"/>
              </a:spcAft>
              <a:defRPr sz="2000">
                <a:solidFill>
                  <a:schemeClr val="bg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7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-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D1042F2D-040E-3DEF-EF05-DADA1F3CC9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1800" y="2570779"/>
            <a:ext cx="6680200" cy="4305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EC61BD-6642-ED46-6C1E-924E21B4C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Title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CAFEC5-5A91-5968-A620-A3E36A2F3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3822" y="83304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58D7-0FE8-D2D2-571F-5619D0CE6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 descr="A blue and black logo&#10;&#10;AI-generated content may be incorrect.">
            <a:extLst>
              <a:ext uri="{FF2B5EF4-FFF2-40B4-BE49-F238E27FC236}">
                <a16:creationId xmlns:a16="http://schemas.microsoft.com/office/drawing/2014/main" id="{BC843D0E-FBAF-0B01-B837-DFD831B1FF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2489" y="6280977"/>
            <a:ext cx="992061" cy="32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38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- Dark Mo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D1042F2D-040E-3DEF-EF05-DADA1F3CC9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1800" y="2570779"/>
            <a:ext cx="6680200" cy="4305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EC61BD-6642-ED46-6C1E-924E21B4C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8304212" cy="1202635"/>
          </a:xfrm>
        </p:spPr>
        <p:txBody>
          <a:bodyPr anchor="b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58D7-0FE8-D2D2-571F-5619D0CE6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83042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63D3E75-63F7-F6F6-DAED-5E2DD25418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52" b="31011"/>
          <a:stretch/>
        </p:blipFill>
        <p:spPr>
          <a:xfrm>
            <a:off x="10853928" y="182880"/>
            <a:ext cx="981358" cy="355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0B7010-3592-FEDC-62CB-6D40B41A774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29218" y="6195218"/>
            <a:ext cx="662782" cy="6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00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-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4F0B286-17EB-A808-3892-BE6E83D5FC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9170"/>
          <a:stretch>
            <a:fillRect/>
          </a:stretch>
        </p:blipFill>
        <p:spPr>
          <a:xfrm rot="11700000">
            <a:off x="-303389" y="-674028"/>
            <a:ext cx="7772400" cy="2659475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71D3CED4-2549-8CC8-C0FB-935A682B5C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2489" y="6280977"/>
            <a:ext cx="992061" cy="32614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6F67A3-DC8A-C638-8C36-F41A2738E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31073"/>
            <a:ext cx="10515600" cy="1325563"/>
          </a:xfrm>
        </p:spPr>
        <p:txBody>
          <a:bodyPr>
            <a:noAutofit/>
          </a:bodyPr>
          <a:lstStyle>
            <a:lvl1pPr algn="r"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89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ig Text - Dark Mo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A64C-80CA-567B-47F2-5C3839E3E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31073"/>
            <a:ext cx="10515600" cy="1325563"/>
          </a:xfrm>
        </p:spPr>
        <p:txBody>
          <a:bodyPr>
            <a:noAutofit/>
          </a:bodyPr>
          <a:lstStyle>
            <a:lvl1pPr algn="r"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Text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F0B286-17EB-A808-3892-BE6E83D5FC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9398"/>
          <a:stretch>
            <a:fillRect/>
          </a:stretch>
        </p:blipFill>
        <p:spPr>
          <a:xfrm rot="11700000">
            <a:off x="-304677" y="-664250"/>
            <a:ext cx="7772400" cy="264952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FB4DD8A-5F7A-FC14-A394-ABAB57F1F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52" b="31011"/>
          <a:stretch/>
        </p:blipFill>
        <p:spPr>
          <a:xfrm>
            <a:off x="10882489" y="6269508"/>
            <a:ext cx="981358" cy="35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08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- Gradi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1CB5-911A-5FEC-54B2-B83C06F6F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1619480"/>
            <a:ext cx="6928692" cy="2809301"/>
          </a:xfrm>
        </p:spPr>
        <p:txBody>
          <a:bodyPr>
            <a:noAutofit/>
          </a:bodyPr>
          <a:lstStyle>
            <a:lvl1pPr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text</a:t>
            </a:r>
            <a:endParaRPr lang="en-US"/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4B10C7F8-AF15-2901-A659-3ABC9F51EF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2489" y="6280977"/>
            <a:ext cx="992061" cy="32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17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5D2A01-356F-5261-96A9-DEA7C75F8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141" y="2766218"/>
            <a:ext cx="10515600" cy="1325563"/>
          </a:xfrm>
        </p:spPr>
        <p:txBody>
          <a:bodyPr>
            <a:normAutofit/>
          </a:bodyPr>
          <a:lstStyle>
            <a:lvl1pPr algn="ctr">
              <a:defRPr sz="8000" b="1" i="0">
                <a:solidFill>
                  <a:schemeClr val="tx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/>
              <a:t>Thank You!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4CE6AF3-2D48-B555-A6DA-A45E6F069C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683" b="32358"/>
          <a:stretch/>
        </p:blipFill>
        <p:spPr>
          <a:xfrm>
            <a:off x="9982200" y="256477"/>
            <a:ext cx="1860395" cy="65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9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3B547-7F99-9C00-19B2-911ECC86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46F10-D903-5B20-25BD-23B0D302D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7B22F-41EA-6D87-0AA2-05AFC32DE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A6E71B9-8BA8-AE4D-A112-9204B280B2F6}" type="datetimeFigureOut">
              <a:rPr lang="en-US" smtClean="0"/>
              <a:pPr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0C449-248A-94F9-2823-DBD86B145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A88B-D0F4-B186-34CF-08CD6ECE3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08196AE-20E6-C243-A0E4-50A23E856F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68" r:id="rId5"/>
    <p:sldLayoutId id="2147483661" r:id="rId6"/>
    <p:sldLayoutId id="2147483669" r:id="rId7"/>
    <p:sldLayoutId id="2147483660" r:id="rId8"/>
    <p:sldLayoutId id="2147483664" r:id="rId9"/>
    <p:sldLayoutId id="2147483657" r:id="rId10"/>
    <p:sldLayoutId id="2147483666" r:id="rId11"/>
    <p:sldLayoutId id="2147483663" r:id="rId12"/>
    <p:sldLayoutId id="2147483665" r:id="rId13"/>
    <p:sldLayoutId id="2147483667" r:id="rId14"/>
    <p:sldLayoutId id="214748366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507D-1AEB-2156-5AAA-FE8E88D61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5201" y="2083170"/>
            <a:ext cx="6037931" cy="2691659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/>
              <a:t>Viable Systems, </a:t>
            </a:r>
            <a:br>
              <a:rPr lang="en-US" sz="4400"/>
            </a:br>
            <a:r>
              <a:rPr lang="en-US" sz="4400"/>
              <a:t>Judgment, &amp; AI Safety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476AB-EDED-CE72-1AA7-BE50CA27E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534" y="4944216"/>
            <a:ext cx="4135903" cy="131533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/>
              <a:t>Neil Lawrence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Co-Founder &amp; Chief Scientist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Trent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AC41BA-912D-6B96-8695-6610BD861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096" y="1032821"/>
            <a:ext cx="3178778" cy="3699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B1E19-A512-9A20-4CDF-44A8004A5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218" y="6195218"/>
            <a:ext cx="662782" cy="6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F8A6-CDEA-791B-9F96-D54CCB45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82" y="212652"/>
            <a:ext cx="9048491" cy="120263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AI safety – an accountability problem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6B3B0-7890-0033-7F92-B9061CD97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0933" y="1659835"/>
            <a:ext cx="6762491" cy="3907465"/>
          </a:xfrm>
        </p:spPr>
        <p:txBody>
          <a:bodyPr>
            <a:normAutofit/>
          </a:bodyPr>
          <a:lstStyle/>
          <a:p>
            <a:pPr algn="ctr"/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3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“Accounting is the numbers. Accountability is the human authority and the judgment.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917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3F9C-D740-42FE-30D2-508541860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7BBAF-6E41-859D-BC67-6A21E86B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Agentic debt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CDDB5-F678-4AB3-3EDC-D83834A53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1295" y="2482701"/>
            <a:ext cx="5178240" cy="1727791"/>
          </a:xfrm>
        </p:spPr>
        <p:txBody>
          <a:bodyPr>
            <a:normAutofit/>
          </a:bodyPr>
          <a:lstStyle/>
          <a:p>
            <a:pPr algn="ctr">
              <a:lnSpc>
                <a:spcPts val="2800"/>
              </a:lnSpc>
              <a:spcAft>
                <a:spcPts val="1200"/>
              </a:spcAft>
            </a:pPr>
            <a:r>
              <a:rPr lang="en-GB" sz="3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“devolving authority without judgment undermines accountability creates agentic debt</a:t>
            </a:r>
          </a:p>
        </p:txBody>
      </p:sp>
    </p:spTree>
    <p:extLst>
      <p:ext uri="{BB962C8B-B14F-4D97-AF65-F5344CB8AC3E}">
        <p14:creationId xmlns:p14="http://schemas.microsoft.com/office/powerpoint/2010/main" val="552141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86DC-AE5B-88C5-E902-B80D8DBA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Augmented engineers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8A4E6-C23C-5108-EEF7-69FFA1972F14}"/>
              </a:ext>
            </a:extLst>
          </p:cNvPr>
          <p:cNvSpPr txBox="1">
            <a:spLocks/>
          </p:cNvSpPr>
          <p:nvPr/>
        </p:nvSpPr>
        <p:spPr>
          <a:xfrm>
            <a:off x="1307621" y="2365743"/>
            <a:ext cx="5178240" cy="1727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  <a:spcAft>
                <a:spcPts val="1200"/>
              </a:spcAft>
            </a:pPr>
            <a:r>
              <a:rPr lang="en-GB" sz="3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“delegation requires understanding, augmentation supplies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51020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2910-C81F-08DF-FCB2-C100F189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935" y="2762044"/>
            <a:ext cx="6345307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/>
              <a:t>Thank You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2800" dirty="0"/>
              <a:t>Neil Lawrence</a:t>
            </a:r>
            <a:br>
              <a:rPr lang="en-US" sz="3200" dirty="0"/>
            </a:br>
            <a:r>
              <a:rPr lang="en-US" sz="1800" dirty="0"/>
              <a:t>Co-Founder &amp; Chief Scientist, Trent AI</a:t>
            </a:r>
            <a:endParaRPr lang="en-US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F00F3-75E5-25B1-5173-F18DF53A5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47" y="1362431"/>
            <a:ext cx="3178778" cy="3699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4E0A4F-CC68-F9A1-5AB5-7962D9903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218" y="6195218"/>
            <a:ext cx="662782" cy="6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6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ent AI - Forge &amp; Flow Palette">
      <a:dk1>
        <a:srgbClr val="37383C"/>
      </a:dk1>
      <a:lt1>
        <a:srgbClr val="F7F6F3"/>
      </a:lt1>
      <a:dk2>
        <a:srgbClr val="2A3A5C"/>
      </a:dk2>
      <a:lt2>
        <a:srgbClr val="F7F6F3"/>
      </a:lt2>
      <a:accent1>
        <a:srgbClr val="3A5C93"/>
      </a:accent1>
      <a:accent2>
        <a:srgbClr val="4C8EFF"/>
      </a:accent2>
      <a:accent3>
        <a:srgbClr val="F57C33"/>
      </a:accent3>
      <a:accent4>
        <a:srgbClr val="FFB34C"/>
      </a:accent4>
      <a:accent5>
        <a:srgbClr val="D1CCBF"/>
      </a:accent5>
      <a:accent6>
        <a:srgbClr val="EFE3D1"/>
      </a:accent6>
      <a:hlink>
        <a:srgbClr val="4C8EFF"/>
      </a:hlink>
      <a:folHlink>
        <a:srgbClr val="D6EA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7ad968-c564-4a34-a9d9-819941799ef2" xsi:nil="true"/>
    <lcf76f155ced4ddcb4097134ff3c332f xmlns="92044c88-6205-4393-bb6e-d1d61ade87a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7B039CC9F105439827D92DC62CAC52" ma:contentTypeVersion="11" ma:contentTypeDescription="Create a new document." ma:contentTypeScope="" ma:versionID="f9e1a26a1df23a9f24f016d68a46a85f">
  <xsd:schema xmlns:xsd="http://www.w3.org/2001/XMLSchema" xmlns:xs="http://www.w3.org/2001/XMLSchema" xmlns:p="http://schemas.microsoft.com/office/2006/metadata/properties" xmlns:ns2="92044c88-6205-4393-bb6e-d1d61ade87a6" xmlns:ns3="ae7ad968-c564-4a34-a9d9-819941799ef2" targetNamespace="http://schemas.microsoft.com/office/2006/metadata/properties" ma:root="true" ma:fieldsID="0bb2fdae11d94042719f2bd727f895b6" ns2:_="" ns3:_="">
    <xsd:import namespace="92044c88-6205-4393-bb6e-d1d61ade87a6"/>
    <xsd:import namespace="ae7ad968-c564-4a34-a9d9-819941799e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044c88-6205-4393-bb6e-d1d61ade87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006924f-2713-406f-984a-1af2160d0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ad968-c564-4a34-a9d9-819941799ef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ffde65c-cac7-44b8-a436-1182966da280}" ma:internalName="TaxCatchAll" ma:showField="CatchAllData" ma:web="ae7ad968-c564-4a34-a9d9-819941799e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93AC1D-D825-40B7-95BD-21B3AE195988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ae7ad968-c564-4a34-a9d9-819941799ef2"/>
    <ds:schemaRef ds:uri="92044c88-6205-4393-bb6e-d1d61ade87a6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07A6F95-C2A9-42FA-9A60-4D95A8B297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044c88-6205-4393-bb6e-d1d61ade87a6"/>
    <ds:schemaRef ds:uri="ae7ad968-c564-4a34-a9d9-819941799e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F36F72-E3D3-49BD-846B-258434D2F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74</Words>
  <Application>Microsoft Macintosh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Avenir Book</vt:lpstr>
      <vt:lpstr>Helvetica Neue</vt:lpstr>
      <vt:lpstr>Office Theme</vt:lpstr>
      <vt:lpstr>Viable Systems,  Judgment, &amp; AI Safety</vt:lpstr>
      <vt:lpstr>AI safety – an accountability problem</vt:lpstr>
      <vt:lpstr>Agentic debt</vt:lpstr>
      <vt:lpstr>Augmented engineers</vt:lpstr>
      <vt:lpstr>Thank You  Neil Lawrence Co-Founder &amp; Chief Scientist, Trent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Paz Klapztein</dc:creator>
  <cp:lastModifiedBy>Neil Lawrence</cp:lastModifiedBy>
  <cp:revision>14</cp:revision>
  <dcterms:created xsi:type="dcterms:W3CDTF">2025-06-09T14:33:19Z</dcterms:created>
  <dcterms:modified xsi:type="dcterms:W3CDTF">2026-07-26T19:29:11Z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0x0101004C7B039CC9F105439827D92DC62CAC52</vt:lpwstr>
  </property>
  <property fmtid="{D5CDD505-2E9C-101B-9397-08002B2CF9AE}" pid="3" name="xd_ProgID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  <property fmtid="{D5CDD505-2E9C-101B-9397-08002B2CF9AE}" pid="11" name="MediaServiceImageTags">
    <vt:lpwstr/>
  </property>
</Properties>
</file>