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9" r:id="rId9"/>
    <p:sldId id="270" r:id="rId10"/>
    <p:sldId id="271" r:id="rId11"/>
    <p:sldId id="272" r:id="rId12"/>
    <p:sldId id="273" r:id="rId13"/>
    <p:sldId id="274" r:id="rId14"/>
    <p:sldId id="275" r:id="rId15"/>
    <p:sldId id="276" r:id="rId16"/>
    <p:sldId id="277" r:id="rId17"/>
    <p:sldId id="278" r:id="rId18"/>
    <p:sldId id="279" r:id="rId19"/>
    <p:sldId id="281" r:id="rId20"/>
    <p:sldId id="283" r:id="rId21"/>
    <p:sldId id="284" r:id="rId22"/>
    <p:sldId id="285" r:id="rId23"/>
    <p:sldId id="286" r:id="rId24"/>
    <p:sldId id="287" r:id="rId25"/>
    <p:sldId id="288" r:id="rId26"/>
    <p:sldId id="289" r:id="rId27"/>
    <p:sldId id="290" r:id="rId28"/>
    <p:sldId id="291" r:id="rId29"/>
    <p:sldId id="292" r:id="rId30"/>
    <p:sldId id="294" r:id="rId31"/>
    <p:sldId id="296" r:id="rId32"/>
    <p:sldId id="297" r:id="rId33"/>
    <p:sldId id="298" r:id="rId34"/>
    <p:sldId id="299" r:id="rId35"/>
    <p:sldId id="300" r:id="rId36"/>
    <p:sldId id="301" r:id="rId37"/>
    <p:sldId id="302" r:id="rId38"/>
    <p:sldId id="303" r:id="rId39"/>
    <p:sldId id="304" r:id="rId40"/>
    <p:sldId id="305" r:id="rId41"/>
    <p:sldId id="307" r:id="rId42"/>
    <p:sldId id="308" r:id="rId43"/>
    <p:sldId id="373" r:id="rId44"/>
    <p:sldId id="309" r:id="rId45"/>
    <p:sldId id="310" r:id="rId46"/>
    <p:sldId id="312" r:id="rId47"/>
    <p:sldId id="316" r:id="rId48"/>
    <p:sldId id="317" r:id="rId49"/>
    <p:sldId id="318" r:id="rId50"/>
    <p:sldId id="321" r:id="rId51"/>
    <p:sldId id="322" r:id="rId52"/>
    <p:sldId id="323" r:id="rId53"/>
    <p:sldId id="324" r:id="rId54"/>
    <p:sldId id="325" r:id="rId55"/>
    <p:sldId id="326" r:id="rId56"/>
    <p:sldId id="327" r:id="rId57"/>
    <p:sldId id="328" r:id="rId58"/>
    <p:sldId id="329" r:id="rId59"/>
    <p:sldId id="330" r:id="rId60"/>
    <p:sldId id="331" r:id="rId61"/>
    <p:sldId id="333" r:id="rId62"/>
    <p:sldId id="334" r:id="rId63"/>
    <p:sldId id="336" r:id="rId64"/>
    <p:sldId id="337" r:id="rId65"/>
    <p:sldId id="340" r:id="rId66"/>
    <p:sldId id="341" r:id="rId67"/>
    <p:sldId id="342" r:id="rId68"/>
    <p:sldId id="344" r:id="rId69"/>
    <p:sldId id="345" r:id="rId70"/>
    <p:sldId id="346" r:id="rId71"/>
    <p:sldId id="347" r:id="rId72"/>
    <p:sldId id="348" r:id="rId73"/>
    <p:sldId id="349" r:id="rId74"/>
    <p:sldId id="350" r:id="rId75"/>
    <p:sldId id="354" r:id="rId76"/>
    <p:sldId id="355" r:id="rId77"/>
    <p:sldId id="359" r:id="rId78"/>
    <p:sldId id="361" r:id="rId79"/>
    <p:sldId id="362" r:id="rId80"/>
    <p:sldId id="363" r:id="rId81"/>
    <p:sldId id="364" r:id="rId82"/>
    <p:sldId id="365" r:id="rId83"/>
    <p:sldId id="369" r:id="rId84"/>
    <p:sldId id="370" r:id="rId85"/>
    <p:sldId id="371" r:id="rId86"/>
    <p:sldId id="372" r:id="rId8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4" autoAdjust="0"/>
    <p:restoredTop sz="94744" autoAdjust="0"/>
  </p:normalViewPr>
  <p:slideViewPr>
    <p:cSldViewPr snapToGrid="0" snapToObjects="1">
      <p:cViewPr varScale="1">
        <p:scale>
          <a:sx n="139" d="100"/>
          <a:sy n="139" d="100"/>
        </p:scale>
        <p:origin x="176" y="48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10/13/26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10/13/26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10/13/26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10/13/26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rgbClr val="ED1847"/>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rgbClr val="4D4D4F"/>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rgbClr val="4D4D4F"/>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2" Type="http://schemas.openxmlformats.org/officeDocument/2006/relationships/hyperlink" Target="https://ai.cam.ac.uk/projects/public-dialogues.html"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www.local.gov.uk/case-studies/oscar-orchestrated-service-citizen-ai-router"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hyperlink" Target="http://the-atomic-human.ai/images/dan-andrews-chapter-3/" TargetMode="External"/><Relationship Id="rId3" Type="http://schemas.openxmlformats.org/officeDocument/2006/relationships/hyperlink" Target="https://www.penguin.co.uk/books/455130/the-atomic-human-by-lawrence-neil-d/9780241625248" TargetMode="External"/><Relationship Id="rId7" Type="http://schemas.openxmlformats.org/officeDocument/2006/relationships/hyperlink" Target="http://the-atomic-human.ai/images/dan-andrews-chapter-1/" TargetMode="External"/><Relationship Id="rId12" Type="http://schemas.openxmlformats.org/officeDocument/2006/relationships/hyperlink" Target="http://the-atomic-human.ai/reflections/playing-in-peoples-backyards/" TargetMode="External"/><Relationship Id="rId2" Type="http://schemas.openxmlformats.org/officeDocument/2006/relationships/hyperlink" Target="https://trent.ai" TargetMode="External"/><Relationship Id="rId1" Type="http://schemas.openxmlformats.org/officeDocument/2006/relationships/slideLayout" Target="../slideLayouts/slideLayout2.xml"/><Relationship Id="rId6" Type="http://schemas.openxmlformats.org/officeDocument/2006/relationships/hyperlink" Target="https://www.ft.com/content/75ebaeb0-e250-4030-93b9-25fb517109ca" TargetMode="External"/><Relationship Id="rId11" Type="http://schemas.openxmlformats.org/officeDocument/2006/relationships/hyperlink" Target="http://the-atomic-human.ai/reflections/who-is-stepping-up/" TargetMode="External"/><Relationship Id="rId5" Type="http://schemas.openxmlformats.org/officeDocument/2006/relationships/hyperlink" Target="https://the-atomic-human.ai" TargetMode="External"/><Relationship Id="rId10" Type="http://schemas.openxmlformats.org/officeDocument/2006/relationships/hyperlink" Target="http://the-atomic-human.ai/reflections/racing-fast-and-slow/" TargetMode="External"/><Relationship Id="rId4" Type="http://schemas.openxmlformats.org/officeDocument/2006/relationships/hyperlink" Target="https://twitter.com/lawrennd" TargetMode="External"/><Relationship Id="rId9" Type="http://schemas.openxmlformats.org/officeDocument/2006/relationships/hyperlink" Target="http://the-atomic-human.ai/reflections/balancing-reflective-and-reflexive/"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Artificial Intelligence and Commercial Applications</a:t>
            </a:r>
          </a:p>
        </p:txBody>
      </p:sp>
      <p:sp>
        <p:nvSpPr>
          <p:cNvPr id="3" name="Subtitle 2"/>
          <p:cNvSpPr>
            <a:spLocks noGrp="1"/>
          </p:cNvSpPr>
          <p:nvPr>
            <p:ph type="subTitle" idx="1"/>
          </p:nvPr>
        </p:nvSpPr>
        <p:spPr>
          <a:xfrm>
            <a:off x="1371600" y="2914650"/>
            <a:ext cx="6400800" cy="1314450"/>
          </a:xfrm>
        </p:spPr>
        <p:txBody>
          <a:bodyPr>
            <a:normAutofit fontScale="92500" lnSpcReduction="10000"/>
          </a:bodyPr>
          <a:lstStyle/>
          <a:p>
            <a:pPr marL="0" lvl="0" indent="0">
              <a:buNone/>
            </a:pPr>
            <a:r>
              <a:rPr dirty="0"/>
              <a:t>Recent Developments, Future Directions, and the Atomic Human</a:t>
            </a:r>
            <a:br>
              <a:rPr dirty="0"/>
            </a:br>
            <a:br>
              <a:rPr dirty="0"/>
            </a:br>
            <a:endParaRPr dirty="0"/>
          </a:p>
        </p:txBody>
      </p:sp>
      <p:sp>
        <p:nvSpPr>
          <p:cNvPr id="4" name="Date Placeholder 3"/>
          <p:cNvSpPr>
            <a:spLocks noGrp="1"/>
          </p:cNvSpPr>
          <p:nvPr>
            <p:ph type="dt" sz="half" idx="10"/>
          </p:nvPr>
        </p:nvSpPr>
        <p:spPr/>
        <p:txBody>
          <a:bodyPr/>
          <a:lstStyle/>
          <a:p>
            <a:pPr marL="0" lvl="0" indent="0">
              <a:buNone/>
            </a:pPr>
            <a:r>
              <a:t>2026-10-27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Today’s Arc</a:t>
            </a:r>
          </a:p>
        </p:txBody>
      </p:sp>
      <p:sp>
        <p:nvSpPr>
          <p:cNvPr id="3" name="Content Placeholder 2"/>
          <p:cNvSpPr>
            <a:spLocks noGrp="1"/>
          </p:cNvSpPr>
          <p:nvPr>
            <p:ph idx="1"/>
          </p:nvPr>
        </p:nvSpPr>
        <p:spPr/>
        <p:txBody>
          <a:bodyPr/>
          <a:lstStyle/>
          <a:p>
            <a:pPr lvl="1"/>
            <a:r>
              <a:t>What AI is — and what it is not</a:t>
            </a:r>
          </a:p>
          <a:p>
            <a:pPr lvl="1"/>
            <a:r>
              <a:t>Commercial applications and organisational change</a:t>
            </a:r>
          </a:p>
          <a:p>
            <a:pPr lvl="1"/>
            <a:r>
              <a:t>Recent developments and future directions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8737"/>
            <a:ext cx="8229600" cy="857250"/>
          </a:xfrm>
        </p:spPr>
        <p:txBody>
          <a:bodyPr>
            <a:normAutofit fontScale="90000"/>
          </a:bodyPr>
          <a:lstStyle/>
          <a:p>
            <a:pPr marL="0" lvl="0" indent="0" algn="l">
              <a:buNone/>
            </a:pPr>
            <a:r>
              <a:rPr dirty="0"/>
              <a:t>Part 1: What AI Is (and Isn’t) for Commercial Leaders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i/1925_Ford_Model_T_touring.jpg"/>
          <p:cNvPicPr>
            <a:picLocks noGrp="1" noChangeAspect="1"/>
          </p:cNvPicPr>
          <p:nvPr/>
        </p:nvPicPr>
        <p:blipFill>
          <a:blip r:embed="rId2"/>
          <a:stretch>
            <a:fillRect/>
          </a:stretch>
        </p:blipFill>
        <p:spPr bwMode="auto">
          <a:xfrm>
            <a:off x="2311400" y="985253"/>
            <a:ext cx="4521200" cy="3390900"/>
          </a:xfrm>
          <a:prstGeom prst="rect">
            <a:avLst/>
          </a:prstGeom>
          <a:noFill/>
          <a:ln w="9525">
            <a:noFill/>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tomic-human/Artificial_General_Vehicle_211224_Final.png"/>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Users/neil/lawrennd/talks/slides/diagrams/books/the-atomic-human.jpg">
            <a:extLst>
              <a:ext uri="{FF2B5EF4-FFF2-40B4-BE49-F238E27FC236}">
                <a16:creationId xmlns:a16="http://schemas.microsoft.com/office/drawing/2014/main" id="{B49DA5C1-5CF0-3C65-8331-1026BC4764CF}"/>
              </a:ext>
            </a:extLst>
          </p:cNvPr>
          <p:cNvPicPr>
            <a:picLocks noGrp="1" noChangeAspect="1"/>
          </p:cNvPicPr>
          <p:nvPr/>
        </p:nvPicPr>
        <p:blipFill>
          <a:blip r:embed="rId2"/>
          <a:stretch>
            <a:fillRect/>
          </a:stretch>
        </p:blipFill>
        <p:spPr bwMode="auto">
          <a:xfrm>
            <a:off x="3473450" y="876300"/>
            <a:ext cx="2197100" cy="33909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Information and Embodiment</a:t>
            </a:r>
          </a:p>
        </p:txBody>
      </p:sp>
      <p:pic>
        <p:nvPicPr>
          <p:cNvPr id="3" name="Picture 1" descr="/Users/neil/lawrennd/talks/slides/diagrams/ClaudeShannon_MFO3807.jpg"/>
          <p:cNvPicPr>
            <a:picLocks noGrp="1" noChangeAspect="1"/>
          </p:cNvPicPr>
          <p:nvPr/>
        </p:nvPicPr>
        <p:blipFill>
          <a:blip r:embed="rId2"/>
          <a:stretch>
            <a:fillRect/>
          </a:stretch>
        </p:blipFill>
        <p:spPr bwMode="auto">
          <a:xfrm>
            <a:off x="3365500" y="1193800"/>
            <a:ext cx="2413000" cy="33909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Communication Bandwidth</a:t>
            </a:r>
          </a:p>
        </p:txBody>
      </p:sp>
      <p:sp>
        <p:nvSpPr>
          <p:cNvPr id="3" name="Content Placeholder 2"/>
          <p:cNvSpPr>
            <a:spLocks noGrp="1"/>
          </p:cNvSpPr>
          <p:nvPr>
            <p:ph idx="1"/>
          </p:nvPr>
        </p:nvSpPr>
        <p:spPr/>
        <p:txBody>
          <a:bodyPr/>
          <a:lstStyle/>
          <a:p>
            <a:pPr lvl="1"/>
            <a:r>
              <a:rPr dirty="0"/>
              <a:t>Human communication: walking pace (2000 bits/minute)</a:t>
            </a:r>
          </a:p>
          <a:p>
            <a:pPr lvl="1"/>
            <a:r>
              <a:rPr dirty="0"/>
              <a:t>Machine communication: light speed (billions of bits/second)</a:t>
            </a:r>
          </a:p>
          <a:p>
            <a:pPr lvl="1"/>
            <a:r>
              <a:rPr dirty="0"/>
              <a:t>Our sharing walks, machine sharing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0.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1.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2.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3.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4.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5.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6.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nne-bob-conversation007.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tomic-human/Atomic_H_1_Gods_Robots.png"/>
          <p:cNvPicPr>
            <a:picLocks noGrp="1" noChangeAspect="1"/>
          </p:cNvPicPr>
          <p:nvPr/>
        </p:nvPicPr>
        <p:blipFill>
          <a:blip r:embed="rId2"/>
          <a:stretch>
            <a:fillRect/>
          </a:stretch>
        </p:blipFill>
        <p:spPr bwMode="auto">
          <a:xfrm>
            <a:off x="2512695" y="512445"/>
            <a:ext cx="4118610" cy="411861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Classic_baby_shoes.jpg"/>
          <p:cNvPicPr>
            <a:picLocks noGrp="1" noChangeAspect="1"/>
          </p:cNvPicPr>
          <p:nvPr/>
        </p:nvPicPr>
        <p:blipFill>
          <a:blip r:embed="rId2"/>
          <a:stretch>
            <a:fillRect/>
          </a:stretch>
        </p:blipFill>
        <p:spPr bwMode="auto">
          <a:xfrm>
            <a:off x="2628900" y="455863"/>
            <a:ext cx="3886200" cy="3390900"/>
          </a:xfrm>
          <a:prstGeom prst="rect">
            <a:avLst/>
          </a:prstGeom>
          <a:noFill/>
          <a:ln w="9525">
            <a:noFill/>
            <a:headEnd/>
            <a:tailEnd/>
          </a:ln>
        </p:spPr>
      </p:pic>
      <p:sp>
        <p:nvSpPr>
          <p:cNvPr id="3" name="Content Placeholder 2">
            <a:extLst>
              <a:ext uri="{FF2B5EF4-FFF2-40B4-BE49-F238E27FC236}">
                <a16:creationId xmlns:a16="http://schemas.microsoft.com/office/drawing/2014/main" id="{9310404A-E67E-989A-E638-CD36F7AAB758}"/>
              </a:ext>
            </a:extLst>
          </p:cNvPr>
          <p:cNvSpPr>
            <a:spLocks noGrp="1"/>
          </p:cNvSpPr>
          <p:nvPr>
            <p:ph idx="1"/>
          </p:nvPr>
        </p:nvSpPr>
        <p:spPr>
          <a:xfrm>
            <a:off x="2237873" y="4200024"/>
            <a:ext cx="4668253" cy="660733"/>
          </a:xfrm>
        </p:spPr>
        <p:txBody>
          <a:bodyPr/>
          <a:lstStyle/>
          <a:p>
            <a:pPr marL="0" lvl="0" indent="0" algn="ctr">
              <a:buNone/>
            </a:pPr>
            <a:r>
              <a:rPr dirty="0"/>
              <a:t>For sale: baby shoes, never worn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i="1"/>
              <a:t>Homo Atomicus</a:t>
            </a:r>
          </a:p>
        </p:txBody>
      </p:sp>
      <p:sp>
        <p:nvSpPr>
          <p:cNvPr id="3" name="Content Placeholder 2"/>
          <p:cNvSpPr>
            <a:spLocks noGrp="1"/>
          </p:cNvSpPr>
          <p:nvPr>
            <p:ph idx="1"/>
          </p:nvPr>
        </p:nvSpPr>
        <p:spPr/>
        <p:txBody>
          <a:bodyPr/>
          <a:lstStyle/>
          <a:p>
            <a:pPr lvl="1"/>
            <a:r>
              <a:t>Where we have </a:t>
            </a:r>
            <a:r>
              <a:rPr i="1"/>
              <a:t>homo economicus</a:t>
            </a:r>
            <a:r>
              <a:t> the machine can step in.</a:t>
            </a:r>
          </a:p>
          <a:p>
            <a:pPr lvl="1"/>
            <a:r>
              <a:t>Quantitative vs Qualitative gap</a:t>
            </a:r>
          </a:p>
          <a:p>
            <a:pPr lvl="1"/>
            <a:r>
              <a:t>Homo atomicus is …</a:t>
            </a:r>
          </a:p>
          <a:p>
            <a:pPr lvl="2"/>
            <a:r>
              <a:t>Not in A-level results</a:t>
            </a:r>
          </a:p>
          <a:p>
            <a:pPr lvl="2"/>
            <a:r>
              <a:t>Not in hospital waiting lists</a:t>
            </a:r>
          </a:p>
          <a:p>
            <a:pPr lvl="2"/>
            <a:r>
              <a:t>In the quality of human interaction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Discussion</a:t>
            </a:r>
          </a:p>
        </p:txBody>
      </p:sp>
      <p:sp>
        <p:nvSpPr>
          <p:cNvPr id="3" name="Content Placeholder 2"/>
          <p:cNvSpPr>
            <a:spLocks noGrp="1"/>
          </p:cNvSpPr>
          <p:nvPr>
            <p:ph idx="1"/>
          </p:nvPr>
        </p:nvSpPr>
        <p:spPr/>
        <p:txBody>
          <a:bodyPr/>
          <a:lstStyle/>
          <a:p>
            <a:pPr lvl="1"/>
            <a:r>
              <a:t>Where is the indivisible human contribution in your organisation?</a:t>
            </a:r>
          </a:p>
          <a:p>
            <a:pPr lvl="1"/>
            <a:r>
              <a:t>What would you </a:t>
            </a:r>
            <a:r>
              <a:rPr i="1"/>
              <a:t>not</a:t>
            </a:r>
            <a:r>
              <a:t> automate, even if you could?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67390"/>
            <a:ext cx="8229600" cy="857250"/>
          </a:xfrm>
        </p:spPr>
        <p:txBody>
          <a:bodyPr>
            <a:normAutofit fontScale="90000"/>
          </a:bodyPr>
          <a:lstStyle/>
          <a:p>
            <a:pPr marL="0" lvl="0" indent="0" algn="l">
              <a:buNone/>
            </a:pPr>
            <a:r>
              <a:rPr dirty="0"/>
              <a:t>Part 2: Commercial Applications and </a:t>
            </a:r>
            <a:r>
              <a:rPr dirty="0" err="1"/>
              <a:t>Organisational</a:t>
            </a:r>
            <a:r>
              <a:rPr dirty="0"/>
              <a:t> Change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paintings/Joseph_Wright_of_Derby_The_Alchemist.jpg"/>
          <p:cNvPicPr>
            <a:picLocks noGrp="1" noChangeAspect="1"/>
          </p:cNvPicPr>
          <p:nvPr/>
        </p:nvPicPr>
        <p:blipFill>
          <a:blip r:embed="rId2"/>
          <a:stretch>
            <a:fillRect/>
          </a:stretch>
        </p:blipFill>
        <p:spPr bwMode="auto">
          <a:xfrm>
            <a:off x="3263900" y="1193800"/>
            <a:ext cx="2616200" cy="3390900"/>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Attention Economy</a:t>
            </a:r>
          </a:p>
        </p:txBody>
      </p:sp>
      <p:sp>
        <p:nvSpPr>
          <p:cNvPr id="3" name="Content Placeholder 2"/>
          <p:cNvSpPr>
            <a:spLocks noGrp="1"/>
          </p:cNvSpPr>
          <p:nvPr>
            <p:ph idx="1"/>
          </p:nvPr>
        </p:nvSpPr>
        <p:spPr/>
        <p:txBody>
          <a:bodyPr/>
          <a:lstStyle/>
          <a:p>
            <a:pPr lvl="1"/>
            <a:r>
              <a:t>Human intelligence is locked-in</a:t>
            </a:r>
          </a:p>
          <a:p>
            <a:pPr lvl="1"/>
            <a:r>
              <a:t>This makes it a bottleneck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Herbert Simon on Information</a:t>
            </a:r>
          </a:p>
        </p:txBody>
      </p:sp>
      <p:sp>
        <p:nvSpPr>
          <p:cNvPr id="3" name="Content Placeholder 2"/>
          <p:cNvSpPr>
            <a:spLocks noGrp="1"/>
          </p:cNvSpPr>
          <p:nvPr>
            <p:ph idx="1"/>
          </p:nvPr>
        </p:nvSpPr>
        <p:spPr/>
        <p:txBody>
          <a:bodyPr/>
          <a:lstStyle/>
          <a:p>
            <a:pPr marL="1270000" lvl="0" indent="0">
              <a:buNone/>
            </a:pPr>
            <a:r>
              <a:rPr sz="2000" dirty="0"/>
              <a:t>What information consumes is rather obvious: it consumes the attention of its recipients. Hence a wealth of information creates a poverty of attention …</a:t>
            </a:r>
          </a:p>
          <a:p>
            <a:pPr marL="1270000" lvl="0" indent="0">
              <a:buNone/>
            </a:pPr>
            <a:r>
              <a:rPr sz="2000" dirty="0"/>
              <a:t>Simon (1971)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data-science/new-flow-of-information001.emf"/>
          <p:cNvPicPr>
            <a:picLocks noGrp="1" noChangeAspect="1"/>
          </p:cNvPicPr>
          <p:nvPr/>
        </p:nvPicPr>
        <p:blipFill>
          <a:blip r:embed="rId2"/>
          <a:stretch>
            <a:fillRect/>
          </a:stretch>
        </p:blipFill>
        <p:spPr bwMode="auto">
          <a:xfrm>
            <a:off x="2628900" y="1193800"/>
            <a:ext cx="3873500" cy="3390900"/>
          </a:xfrm>
          <a:prstGeom prst="rect">
            <a:avLst/>
          </a:prstGeom>
          <a:noFill/>
          <a:ln w="9525">
            <a:noFill/>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data-science/new-flow-of-information001a.emf"/>
          <p:cNvPicPr>
            <a:picLocks noGrp="1" noChangeAspect="1"/>
          </p:cNvPicPr>
          <p:nvPr/>
        </p:nvPicPr>
        <p:blipFill>
          <a:blip r:embed="rId2"/>
          <a:stretch>
            <a:fillRect/>
          </a:stretch>
        </p:blipFill>
        <p:spPr bwMode="auto">
          <a:xfrm>
            <a:off x="2628900" y="1193800"/>
            <a:ext cx="3873500" cy="3390900"/>
          </a:xfrm>
          <a:prstGeom prst="rect">
            <a:avLst/>
          </a:prstGeom>
          <a:noFill/>
          <a:ln w="9525">
            <a:noFill/>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data-science/new-flow-of-information002.emf"/>
          <p:cNvPicPr>
            <a:picLocks noGrp="1" noChangeAspect="1"/>
          </p:cNvPicPr>
          <p:nvPr/>
        </p:nvPicPr>
        <p:blipFill>
          <a:blip r:embed="rId2"/>
          <a:stretch>
            <a:fillRect/>
          </a:stretch>
        </p:blipFill>
        <p:spPr bwMode="auto">
          <a:xfrm>
            <a:off x="2628900" y="1193800"/>
            <a:ext cx="3873500" cy="33909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data-science/new-flow-of-information003.emf"/>
          <p:cNvPicPr>
            <a:picLocks noGrp="1" noChangeAspect="1"/>
          </p:cNvPicPr>
          <p:nvPr/>
        </p:nvPicPr>
        <p:blipFill>
          <a:blip r:embed="rId2"/>
          <a:stretch>
            <a:fillRect/>
          </a:stretch>
        </p:blipFill>
        <p:spPr bwMode="auto">
          <a:xfrm>
            <a:off x="2628900" y="1193800"/>
            <a:ext cx="3873500" cy="33909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30506"/>
            <a:ext cx="8229600" cy="857250"/>
          </a:xfrm>
        </p:spPr>
        <p:txBody>
          <a:bodyPr/>
          <a:lstStyle/>
          <a:p>
            <a:pPr marL="0" lvl="0" indent="0" algn="l">
              <a:buNone/>
            </a:pPr>
            <a:r>
              <a:rPr dirty="0"/>
              <a:t>Institutional Character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GB" dirty="0"/>
              <a:t>Bezos memo to Amazon in 2002</a:t>
            </a:r>
            <a:endParaRPr dirty="0"/>
          </a:p>
        </p:txBody>
      </p:sp>
      <p:sp>
        <p:nvSpPr>
          <p:cNvPr id="3" name="Content Placeholder 2"/>
          <p:cNvSpPr>
            <a:spLocks noGrp="1"/>
          </p:cNvSpPr>
          <p:nvPr>
            <p:ph idx="1"/>
          </p:nvPr>
        </p:nvSpPr>
        <p:spPr/>
        <p:txBody>
          <a:bodyPr/>
          <a:lstStyle/>
          <a:p>
            <a:pPr lvl="1"/>
            <a:r>
              <a:rPr lang="en-GB" dirty="0"/>
              <a:t>The API Mandate </a:t>
            </a:r>
          </a:p>
          <a:p>
            <a:pPr lvl="2"/>
            <a:r>
              <a:rPr dirty="0"/>
              <a:t>All teams will henceforth expose their data and functionality through service interfaces.</a:t>
            </a:r>
          </a:p>
          <a:p>
            <a:pPr lvl="2"/>
            <a:r>
              <a:rPr dirty="0"/>
              <a:t>Teams must communicate with each other through these interfaces.</a:t>
            </a:r>
            <a:endParaRPr lang="en-US" dirty="0"/>
          </a:p>
          <a:p>
            <a:pPr lvl="2"/>
            <a:r>
              <a:rPr lang="en-GB" dirty="0"/>
              <a:t>There will be no other form of inter-process communication allowed: </a:t>
            </a:r>
          </a:p>
          <a:p>
            <a:pPr lvl="3"/>
            <a:r>
              <a:rPr lang="en-GB" dirty="0"/>
              <a:t>no direct linking, </a:t>
            </a:r>
          </a:p>
          <a:p>
            <a:pPr lvl="3"/>
            <a:r>
              <a:rPr lang="en-GB" dirty="0"/>
              <a:t>no direct reads of another team’s data store, </a:t>
            </a:r>
          </a:p>
          <a:p>
            <a:pPr lvl="3"/>
            <a:r>
              <a:rPr lang="en-GB" dirty="0"/>
              <a:t>no shared-memory model, </a:t>
            </a:r>
          </a:p>
          <a:p>
            <a:pPr lvl="3"/>
            <a:r>
              <a:rPr lang="en-GB" dirty="0"/>
              <a:t>no back-doors whatsoever. </a:t>
            </a:r>
          </a:p>
          <a:p>
            <a:pPr lvl="2"/>
            <a:r>
              <a:rPr lang="en-GB" dirty="0"/>
              <a:t>The only communication allowed is via service interface calls over the network.</a:t>
            </a:r>
          </a:p>
          <a:p>
            <a:pPr lvl="2"/>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t>It doesn’t matter what technology they use.</a:t>
            </a:r>
          </a:p>
          <a:p>
            <a:pPr lvl="1"/>
            <a:r>
              <a:t>All service interfaces, without exception, must be designed from the ground up to be externalizable. That is to say, the team must plan and design to be able to expose the interface to developers in the outside world. No exceptions.</a:t>
            </a:r>
          </a:p>
        </p:txBody>
      </p:sp>
      <p:sp>
        <p:nvSpPr>
          <p:cNvPr id="2" name="Title 1">
            <a:extLst>
              <a:ext uri="{FF2B5EF4-FFF2-40B4-BE49-F238E27FC236}">
                <a16:creationId xmlns:a16="http://schemas.microsoft.com/office/drawing/2014/main" id="{AFA0FDC3-2840-8AF2-795F-AC340A02043D}"/>
              </a:ext>
            </a:extLst>
          </p:cNvPr>
          <p:cNvSpPr>
            <a:spLocks noGrp="1"/>
          </p:cNvSpPr>
          <p:nvPr>
            <p:ph type="title"/>
          </p:nvPr>
        </p:nvSpPr>
        <p:spPr>
          <a:xfrm>
            <a:off x="457200" y="205979"/>
            <a:ext cx="8229600" cy="857250"/>
          </a:xfrm>
        </p:spPr>
        <p:txBody>
          <a:bodyPr>
            <a:normAutofit/>
          </a:bodyPr>
          <a:lstStyle/>
          <a:p>
            <a:pPr lvl="0"/>
            <a:r>
              <a:rPr lang="en-GB" dirty="0"/>
              <a:t>Bezos memo to Amazon in 2002</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Duality of Corporation and Information</a:t>
            </a:r>
          </a:p>
        </p:txBody>
      </p:sp>
      <p:sp>
        <p:nvSpPr>
          <p:cNvPr id="3" name="Content Placeholder 2"/>
          <p:cNvSpPr>
            <a:spLocks noGrp="1"/>
          </p:cNvSpPr>
          <p:nvPr>
            <p:ph idx="1"/>
          </p:nvPr>
        </p:nvSpPr>
        <p:spPr/>
        <p:txBody>
          <a:bodyPr/>
          <a:lstStyle/>
          <a:p>
            <a:pPr lvl="1"/>
            <a:r>
              <a:t>What is less written about is </a:t>
            </a:r>
            <a:r>
              <a:rPr i="1"/>
              <a:t>corporate structure</a:t>
            </a:r>
            <a:r>
              <a:t>.</a:t>
            </a:r>
          </a:p>
          <a:p>
            <a:pPr lvl="1"/>
            <a:r>
              <a:t>This </a:t>
            </a:r>
            <a:r>
              <a:rPr i="1"/>
              <a:t>information infrastructure</a:t>
            </a:r>
            <a:r>
              <a:t> is reflected in the corporation.</a:t>
            </a:r>
          </a:p>
          <a:p>
            <a:pPr lvl="1"/>
            <a:r>
              <a:t>Two pizza teams with </a:t>
            </a:r>
            <a:r>
              <a:rPr i="1"/>
              <a:t>devolved autonomy</a:t>
            </a:r>
            <a:r>
              <a:t>.</a:t>
            </a:r>
          </a:p>
          <a:p>
            <a:pPr lvl="1"/>
            <a:r>
              <a:t>Bound together through </a:t>
            </a:r>
            <a:r>
              <a:rPr i="1"/>
              <a:t>corporate culture</a:t>
            </a:r>
            <a: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Conway’s Law</a:t>
            </a:r>
          </a:p>
        </p:txBody>
      </p:sp>
      <p:sp>
        <p:nvSpPr>
          <p:cNvPr id="3" name="Content Placeholder 2"/>
          <p:cNvSpPr>
            <a:spLocks noGrp="1"/>
          </p:cNvSpPr>
          <p:nvPr>
            <p:ph idx="1"/>
          </p:nvPr>
        </p:nvSpPr>
        <p:spPr/>
        <p:txBody>
          <a:bodyPr/>
          <a:lstStyle/>
          <a:p>
            <a:pPr marL="1270000" lvl="0" indent="0">
              <a:buNone/>
            </a:pPr>
            <a:r>
              <a:rPr sz="2000"/>
              <a:t>Any organization that designs a system (defined broadly) will produce a design whose structure is a copy of the organization’s communication structure.</a:t>
            </a:r>
          </a:p>
          <a:p>
            <a:pPr marL="1270000" lvl="0" indent="0">
              <a:buNone/>
            </a:pPr>
            <a:r>
              <a:rPr sz="2000"/>
              <a:t>Conway (n.d.)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Amazon and Agility</a:t>
            </a:r>
          </a:p>
        </p:txBody>
      </p:sp>
      <p:sp>
        <p:nvSpPr>
          <p:cNvPr id="3" name="Content Placeholder 2"/>
          <p:cNvSpPr>
            <a:spLocks noGrp="1"/>
          </p:cNvSpPr>
          <p:nvPr>
            <p:ph idx="1"/>
          </p:nvPr>
        </p:nvSpPr>
        <p:spPr/>
        <p:txBody>
          <a:bodyPr/>
          <a:lstStyle/>
          <a:p>
            <a:pPr lvl="1"/>
            <a:r>
              <a:t>Company prides itself on agility.</a:t>
            </a:r>
          </a:p>
          <a:p>
            <a:pPr lvl="1"/>
            <a:r>
              <a:t>Operates through a system of </a:t>
            </a:r>
            <a:r>
              <a:rPr i="1"/>
              <a:t>devolved autonomy</a:t>
            </a:r>
          </a:p>
          <a:p>
            <a:pPr lvl="2"/>
            <a:r>
              <a:t>Teams have defined inputs and outputs.</a:t>
            </a:r>
          </a:p>
          <a:p>
            <a:pPr lvl="1"/>
            <a:r>
              <a:t>Corporate culture bonds them togethether.</a:t>
            </a:r>
          </a:p>
          <a:p>
            <a:pPr lvl="2"/>
            <a:r>
              <a:t>Customer obsession</a:t>
            </a:r>
          </a:p>
          <a:p>
            <a:pPr lvl="2"/>
            <a:r>
              <a:t>Ownership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Alternative Culture: </a:t>
            </a:r>
            <a:r>
              <a:rPr dirty="0"/>
              <a:t>Cambridge</a:t>
            </a:r>
          </a:p>
        </p:txBody>
      </p:sp>
      <p:sp>
        <p:nvSpPr>
          <p:cNvPr id="3" name="Content Placeholder 2"/>
          <p:cNvSpPr>
            <a:spLocks noGrp="1"/>
          </p:cNvSpPr>
          <p:nvPr>
            <p:ph idx="1"/>
          </p:nvPr>
        </p:nvSpPr>
        <p:spPr/>
        <p:txBody>
          <a:bodyPr/>
          <a:lstStyle/>
          <a:p>
            <a:pPr lvl="1"/>
            <a:r>
              <a:t>Over 800 years old.</a:t>
            </a:r>
          </a:p>
          <a:p>
            <a:pPr lvl="2"/>
            <a:r>
              <a:t>Less commonly thought of as agile.</a:t>
            </a:r>
          </a:p>
          <a:p>
            <a:pPr lvl="2"/>
            <a:r>
              <a:t>Reliable institutional character.</a:t>
            </a:r>
          </a:p>
          <a:p>
            <a:pPr lvl="2"/>
            <a:r>
              <a:t>Amazon in comparison is more mecurial.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Organisational Data Science</a:t>
            </a:r>
          </a:p>
        </p:txBody>
      </p:sp>
      <p:sp>
        <p:nvSpPr>
          <p:cNvPr id="3" name="Content Placeholder 2"/>
          <p:cNvSpPr>
            <a:spLocks noGrp="1"/>
          </p:cNvSpPr>
          <p:nvPr>
            <p:ph idx="1"/>
          </p:nvPr>
        </p:nvSpPr>
        <p:spPr/>
        <p:txBody>
          <a:bodyPr/>
          <a:lstStyle/>
          <a:p>
            <a:pPr lvl="1"/>
            <a:r>
              <a:rPr dirty="0"/>
              <a:t>Claim:</a:t>
            </a:r>
          </a:p>
          <a:p>
            <a:pPr lvl="2"/>
            <a:r>
              <a:rPr dirty="0"/>
              <a:t>For data driven decision making to work there must be an interplay between institutional character and the information infrastructure.</a:t>
            </a:r>
            <a:endParaRPr lang="en-US" dirty="0"/>
          </a:p>
          <a:p>
            <a:pPr lvl="1"/>
            <a:r>
              <a:rPr lang="en-GB" dirty="0"/>
              <a:t>Sometimes described as “inverse Conway’s Law”</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Cultural Transplant</a:t>
            </a:r>
          </a:p>
        </p:txBody>
      </p:sp>
      <p:sp>
        <p:nvSpPr>
          <p:cNvPr id="3" name="Content Placeholder 2"/>
          <p:cNvSpPr>
            <a:spLocks noGrp="1"/>
          </p:cNvSpPr>
          <p:nvPr>
            <p:ph idx="1"/>
          </p:nvPr>
        </p:nvSpPr>
        <p:spPr/>
        <p:txBody>
          <a:bodyPr/>
          <a:lstStyle/>
          <a:p>
            <a:pPr lvl="1"/>
            <a:r>
              <a:rPr dirty="0"/>
              <a:t>Claim:</a:t>
            </a:r>
          </a:p>
          <a:p>
            <a:pPr lvl="2"/>
            <a:r>
              <a:rPr dirty="0"/>
              <a:t>Transplanting another </a:t>
            </a:r>
            <a:r>
              <a:rPr dirty="0" err="1"/>
              <a:t>organisation’s</a:t>
            </a:r>
            <a:r>
              <a:rPr dirty="0"/>
              <a:t> decision</a:t>
            </a:r>
            <a:r>
              <a:rPr lang="en-US" dirty="0"/>
              <a:t>-</a:t>
            </a:r>
            <a:r>
              <a:rPr dirty="0"/>
              <a:t>making infrastructure directly leads cultural rejection from the new host.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Information Flows in Organisations</a:t>
            </a:r>
          </a:p>
        </p:txBody>
      </p:sp>
      <p:pic>
        <p:nvPicPr>
          <p:cNvPr id="3" name="Picture 1" descr="/Users/neil/lawrennd/talks/slides/diagrams/business/corporate-hierarchy-information-flow.emf"/>
          <p:cNvPicPr>
            <a:picLocks noGrp="1" noChangeAspect="1"/>
          </p:cNvPicPr>
          <p:nvPr/>
        </p:nvPicPr>
        <p:blipFill>
          <a:blip r:embed="rId2"/>
          <a:stretch>
            <a:fillRect/>
          </a:stretch>
        </p:blipFill>
        <p:spPr bwMode="auto">
          <a:xfrm>
            <a:off x="1943100" y="1193800"/>
            <a:ext cx="5257800" cy="3390900"/>
          </a:xfrm>
          <a:prstGeom prst="rect">
            <a:avLst/>
          </a:prstGeom>
          <a:noFill/>
          <a:ln w="9525">
            <a:noFill/>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Hub-and-Spoke</a:t>
            </a:r>
          </a:p>
        </p:txBody>
      </p:sp>
      <p:pic>
        <p:nvPicPr>
          <p:cNvPr id="3" name="Picture 1" descr="/Users/neil/lawrennd/talks/slides/diagrams/business/hub-and-spoke-information-flow.emf"/>
          <p:cNvPicPr>
            <a:picLocks noGrp="1" noChangeAspect="1"/>
          </p:cNvPicPr>
          <p:nvPr/>
        </p:nvPicPr>
        <p:blipFill>
          <a:blip r:embed="rId2"/>
          <a:stretch>
            <a:fillRect/>
          </a:stretch>
        </p:blipFill>
        <p:spPr bwMode="auto">
          <a:xfrm>
            <a:off x="1943100" y="1193800"/>
            <a:ext cx="5257800" cy="3390900"/>
          </a:xfrm>
          <a:prstGeom prst="rect">
            <a:avLst/>
          </a:prstGeom>
          <a:noFill/>
          <a:ln w="9525">
            <a:noFill/>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Peer-to-Peer</a:t>
            </a:r>
          </a:p>
        </p:txBody>
      </p:sp>
      <p:pic>
        <p:nvPicPr>
          <p:cNvPr id="3" name="Picture 1" descr="/Users/neil/lawrennd/talks/slides/diagrams/business/peer-to-peer-information-flow.emf"/>
          <p:cNvPicPr>
            <a:picLocks noGrp="1" noChangeAspect="1"/>
          </p:cNvPicPr>
          <p:nvPr/>
        </p:nvPicPr>
        <p:blipFill>
          <a:blip r:embed="rId2"/>
          <a:stretch>
            <a:fillRect/>
          </a:stretch>
        </p:blipFill>
        <p:spPr bwMode="auto">
          <a:xfrm>
            <a:off x="1943100" y="1193800"/>
            <a:ext cx="5257800" cy="3390900"/>
          </a:xfrm>
          <a:prstGeom prst="rect">
            <a:avLst/>
          </a:prstGeom>
          <a:noFill/>
          <a:ln w="9525">
            <a:noFill/>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Information and Money Flow Together</a:t>
            </a:r>
          </a:p>
        </p:txBody>
      </p:sp>
      <p:pic>
        <p:nvPicPr>
          <p:cNvPr id="3" name="Picture 1" descr="/Users/neil/lawrennd/talks/slides/diagrams/business/peer-to-peer-economy-flow.emf"/>
          <p:cNvPicPr>
            <a:picLocks noGrp="1" noChangeAspect="1"/>
          </p:cNvPicPr>
          <p:nvPr/>
        </p:nvPicPr>
        <p:blipFill>
          <a:blip r:embed="rId2"/>
          <a:stretch>
            <a:fillRect/>
          </a:stretch>
        </p:blipFill>
        <p:spPr bwMode="auto">
          <a:xfrm>
            <a:off x="1943100" y="1193800"/>
            <a:ext cx="5257800" cy="3390900"/>
          </a:xfrm>
          <a:prstGeom prst="rect">
            <a:avLst/>
          </a:prstGeom>
          <a:noFill/>
          <a:ln w="9525">
            <a:noFill/>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Training and Culture as Hub</a:t>
            </a:r>
          </a:p>
        </p:txBody>
      </p:sp>
      <p:pic>
        <p:nvPicPr>
          <p:cNvPr id="3" name="Picture 1" descr="/Users/neil/lawrennd/talks/slides/diagrams/business/hub-and-spoke-culture.emf"/>
          <p:cNvPicPr>
            <a:picLocks noGrp="1" noChangeAspect="1"/>
          </p:cNvPicPr>
          <p:nvPr/>
        </p:nvPicPr>
        <p:blipFill>
          <a:blip r:embed="rId2"/>
          <a:stretch>
            <a:fillRect/>
          </a:stretch>
        </p:blipFill>
        <p:spPr bwMode="auto">
          <a:xfrm>
            <a:off x="1943100" y="1193800"/>
            <a:ext cx="5257800" cy="3390900"/>
          </a:xfrm>
          <a:prstGeom prst="rect">
            <a:avLst/>
          </a:prstGeom>
          <a:noFill/>
          <a:ln w="9525">
            <a:noFill/>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2382D-7C8B-3990-5393-5D869FDFF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715DE-580B-FABD-933C-19A36470CE90}"/>
              </a:ext>
            </a:extLst>
          </p:cNvPr>
          <p:cNvSpPr>
            <a:spLocks noGrp="1"/>
          </p:cNvSpPr>
          <p:nvPr>
            <p:ph type="title"/>
          </p:nvPr>
        </p:nvSpPr>
        <p:spPr/>
        <p:txBody>
          <a:bodyPr/>
          <a:lstStyle/>
          <a:p>
            <a:pPr marL="0" lvl="0" indent="0">
              <a:buNone/>
            </a:pPr>
            <a:r>
              <a:rPr lang="en-US" dirty="0"/>
              <a:t>Autonomy Depends on Trust</a:t>
            </a:r>
            <a:endParaRPr dirty="0"/>
          </a:p>
        </p:txBody>
      </p:sp>
      <p:sp>
        <p:nvSpPr>
          <p:cNvPr id="3" name="Content Placeholder 2">
            <a:extLst>
              <a:ext uri="{FF2B5EF4-FFF2-40B4-BE49-F238E27FC236}">
                <a16:creationId xmlns:a16="http://schemas.microsoft.com/office/drawing/2014/main" id="{8CE6EF62-E967-D382-F703-C30B6E98B459}"/>
              </a:ext>
            </a:extLst>
          </p:cNvPr>
          <p:cNvSpPr>
            <a:spLocks noGrp="1"/>
          </p:cNvSpPr>
          <p:nvPr>
            <p:ph idx="1"/>
          </p:nvPr>
        </p:nvSpPr>
        <p:spPr/>
        <p:txBody>
          <a:bodyPr/>
          <a:lstStyle/>
          <a:p>
            <a:pPr lvl="1"/>
            <a:r>
              <a:rPr dirty="0"/>
              <a:t>Trust is not a slogan</a:t>
            </a:r>
          </a:p>
          <a:p>
            <a:pPr lvl="1"/>
            <a:r>
              <a:rPr dirty="0"/>
              <a:t>Trust is an infrastructure</a:t>
            </a:r>
            <a:endParaRPr lang="en-US" dirty="0"/>
          </a:p>
          <a:p>
            <a:pPr lvl="1"/>
            <a:r>
              <a:rPr dirty="0"/>
              <a:t>Trust depends on shared culture</a:t>
            </a:r>
          </a:p>
        </p:txBody>
      </p:sp>
    </p:spTree>
    <p:extLst>
      <p:ext uri="{BB962C8B-B14F-4D97-AF65-F5344CB8AC3E}">
        <p14:creationId xmlns:p14="http://schemas.microsoft.com/office/powerpoint/2010/main" val="3711202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Trust, Autonomy and Embodiment</a:t>
            </a:r>
          </a:p>
        </p:txBody>
      </p:sp>
      <p:sp>
        <p:nvSpPr>
          <p:cNvPr id="3" name="Content Placeholder 2"/>
          <p:cNvSpPr>
            <a:spLocks noGrp="1"/>
          </p:cNvSpPr>
          <p:nvPr>
            <p:ph idx="1"/>
          </p:nvPr>
        </p:nvSpPr>
        <p:spPr/>
        <p:txBody>
          <a:bodyPr/>
          <a:lstStyle/>
          <a:p>
            <a:pPr lvl="1"/>
            <a:r>
              <a:t>Trust is not a slogan</a:t>
            </a:r>
          </a:p>
          <a:p>
            <a:pPr lvl="1"/>
            <a:r>
              <a:t>Trust is an infrastructure</a:t>
            </a:r>
          </a:p>
          <a:p>
            <a:pPr lvl="1"/>
            <a:r>
              <a:t>Autonomy depends on Trust</a:t>
            </a:r>
          </a:p>
          <a:p>
            <a:pPr lvl="1"/>
            <a:r>
              <a:t>Trust depends on shared culture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tomic-human/Atomic_H_3_Intent.png"/>
          <p:cNvPicPr>
            <a:picLocks noGrp="1" noChangeAspect="1"/>
          </p:cNvPicPr>
          <p:nvPr/>
        </p:nvPicPr>
        <p:blipFill>
          <a:blip r:embed="rId2"/>
          <a:stretch>
            <a:fillRect/>
          </a:stretch>
        </p:blipFill>
        <p:spPr bwMode="auto">
          <a:xfrm>
            <a:off x="2454656" y="454406"/>
            <a:ext cx="4234688" cy="4234688"/>
          </a:xfrm>
          <a:prstGeom prst="rect">
            <a:avLst/>
          </a:prstGeom>
          <a:noFill/>
          <a:ln w="9525">
            <a:noFill/>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Horizon scandal</a:t>
            </a:r>
          </a:p>
        </p:txBody>
      </p:sp>
      <p:pic>
        <p:nvPicPr>
          <p:cNvPr id="4" name="Graphic 3">
            <a:extLst>
              <a:ext uri="{FF2B5EF4-FFF2-40B4-BE49-F238E27FC236}">
                <a16:creationId xmlns:a16="http://schemas.microsoft.com/office/drawing/2014/main" id="{B7F10E0A-67FF-651A-0FEA-268CD193A3B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2376" y="1655477"/>
            <a:ext cx="2454299" cy="1832543"/>
          </a:xfrm>
          <a:prstGeom prst="rect">
            <a:avLst/>
          </a:prstGeom>
        </p:spPr>
      </p:pic>
      <p:pic>
        <p:nvPicPr>
          <p:cNvPr id="7" name="Graphic 6">
            <a:extLst>
              <a:ext uri="{FF2B5EF4-FFF2-40B4-BE49-F238E27FC236}">
                <a16:creationId xmlns:a16="http://schemas.microsoft.com/office/drawing/2014/main" id="{A014EF1B-98C9-98EC-8BD2-7EE8F29103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64808" y="2112550"/>
            <a:ext cx="1956816" cy="918399"/>
          </a:xfrm>
          <a:prstGeom prst="rect">
            <a:avLst/>
          </a:prstGeom>
        </p:spPr>
      </p:pic>
      <p:pic>
        <p:nvPicPr>
          <p:cNvPr id="11" name="Picture 10">
            <a:extLst>
              <a:ext uri="{FF2B5EF4-FFF2-40B4-BE49-F238E27FC236}">
                <a16:creationId xmlns:a16="http://schemas.microsoft.com/office/drawing/2014/main" id="{51141641-ECA1-4EFC-5B69-1F94415C6444}"/>
              </a:ext>
            </a:extLst>
          </p:cNvPr>
          <p:cNvPicPr>
            <a:picLocks noChangeAspect="1"/>
          </p:cNvPicPr>
          <p:nvPr/>
        </p:nvPicPr>
        <p:blipFill>
          <a:blip r:embed="rId4"/>
          <a:stretch>
            <a:fillRect/>
          </a:stretch>
        </p:blipFill>
        <p:spPr>
          <a:xfrm>
            <a:off x="3768089" y="1876549"/>
            <a:ext cx="2224640" cy="1390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Automation Challenge</a:t>
            </a:r>
          </a:p>
        </p:txBody>
      </p:sp>
      <p:sp>
        <p:nvSpPr>
          <p:cNvPr id="3" name="Content Placeholder 2"/>
          <p:cNvSpPr>
            <a:spLocks noGrp="1"/>
          </p:cNvSpPr>
          <p:nvPr>
            <p:ph idx="1"/>
          </p:nvPr>
        </p:nvSpPr>
        <p:spPr/>
        <p:txBody>
          <a:bodyPr/>
          <a:lstStyle/>
          <a:p>
            <a:pPr lvl="1"/>
            <a:r>
              <a:t>Complex ≠ Complicated</a:t>
            </a:r>
          </a:p>
          <a:p>
            <a:pPr lvl="1"/>
            <a:r>
              <a:t>Speed isn’t always progress</a:t>
            </a:r>
          </a:p>
          <a:p>
            <a:pPr lvl="1"/>
            <a:r>
              <a:t>Augment humans, don’t replace them</a:t>
            </a:r>
          </a:p>
          <a:p>
            <a:pPr lvl="2"/>
            <a:r>
              <a:t>See e.g. ai@cam public dialogues: </a:t>
            </a:r>
            <a:r>
              <a:rPr>
                <a:hlinkClick r:id="rId2"/>
              </a:rPr>
              <a:t>https://ai.cam.ac.uk/projects/public-dialogues.html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Good Process Drives Purpose</a:t>
            </a:r>
          </a:p>
        </p:txBody>
      </p:sp>
      <p:pic>
        <p:nvPicPr>
          <p:cNvPr id="3" name="Picture 1" descr="/Users/neil/lawrennd/talks/slides/diagrams/business/liverpool-public-dialogue.jpg"/>
          <p:cNvPicPr>
            <a:picLocks noGrp="1" noChangeAspect="1"/>
          </p:cNvPicPr>
          <p:nvPr/>
        </p:nvPicPr>
        <p:blipFill>
          <a:blip r:embed="rId2"/>
          <a:stretch>
            <a:fillRect/>
          </a:stretch>
        </p:blipFill>
        <p:spPr bwMode="auto">
          <a:xfrm>
            <a:off x="1181100" y="1193800"/>
            <a:ext cx="6794500" cy="3390900"/>
          </a:xfrm>
          <a:prstGeom prst="rect">
            <a:avLst/>
          </a:prstGeom>
          <a:noFill/>
          <a:ln w="9525">
            <a:noFill/>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Two Types of Stochastic Parrot</a:t>
            </a:r>
          </a:p>
        </p:txBody>
      </p:sp>
      <p:pic>
        <p:nvPicPr>
          <p:cNvPr id="3" name="Picture 2" descr="/Users/neil/lawrennd/talks/slides/diagrams/atomic-human/Atomic_H_5_Enlightenment.png">
            <a:extLst>
              <a:ext uri="{FF2B5EF4-FFF2-40B4-BE49-F238E27FC236}">
                <a16:creationId xmlns:a16="http://schemas.microsoft.com/office/drawing/2014/main" id="{32D6E347-0A5A-4160-2987-D68E378926B0}"/>
              </a:ext>
            </a:extLst>
          </p:cNvPr>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Discussion</a:t>
            </a:r>
          </a:p>
        </p:txBody>
      </p:sp>
      <p:sp>
        <p:nvSpPr>
          <p:cNvPr id="3" name="Content Placeholder 2"/>
          <p:cNvSpPr>
            <a:spLocks noGrp="1"/>
          </p:cNvSpPr>
          <p:nvPr>
            <p:ph idx="1"/>
          </p:nvPr>
        </p:nvSpPr>
        <p:spPr/>
        <p:txBody>
          <a:bodyPr/>
          <a:lstStyle/>
          <a:p>
            <a:pPr lvl="1"/>
            <a:r>
              <a:t>Map one critical information flow in your firm</a:t>
            </a:r>
          </a:p>
          <a:p>
            <a:pPr lvl="1"/>
            <a:r>
              <a:t>Where are the human bottlenecks?</a:t>
            </a:r>
          </a:p>
          <a:p>
            <a:pPr lvl="1"/>
            <a:r>
              <a:t>Where would AI help — and where would it create risk?</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3221"/>
            <a:ext cx="8229600" cy="857250"/>
          </a:xfrm>
        </p:spPr>
        <p:txBody>
          <a:bodyPr>
            <a:normAutofit fontScale="90000"/>
          </a:bodyPr>
          <a:lstStyle/>
          <a:p>
            <a:pPr marL="0" lvl="0" indent="0" algn="l">
              <a:buNone/>
            </a:pPr>
            <a:r>
              <a:rPr dirty="0"/>
              <a:t>Part 3: Recent Developments and Future Directions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Recent Developments</a:t>
            </a:r>
          </a:p>
        </p:txBody>
      </p:sp>
      <p:sp>
        <p:nvSpPr>
          <p:cNvPr id="3" name="Content Placeholder 2"/>
          <p:cNvSpPr>
            <a:spLocks noGrp="1"/>
          </p:cNvSpPr>
          <p:nvPr>
            <p:ph idx="1"/>
          </p:nvPr>
        </p:nvSpPr>
        <p:spPr/>
        <p:txBody>
          <a:bodyPr/>
          <a:lstStyle/>
          <a:p>
            <a:pPr lvl="1"/>
            <a:r>
              <a:t>Generative AI as a human-analogue machine (HAM)</a:t>
            </a:r>
          </a:p>
          <a:p>
            <a:pPr lvl="1"/>
            <a:r>
              <a:t>Progress driven by </a:t>
            </a:r>
            <a:r>
              <a:rPr i="1"/>
              <a:t>harnesses</a:t>
            </a:r>
            <a:r>
              <a:t> and </a:t>
            </a:r>
            <a:r>
              <a:rPr i="1"/>
              <a:t>small models</a:t>
            </a:r>
            <a:r>
              <a:t>, not only scale</a:t>
            </a:r>
          </a:p>
          <a:p>
            <a:pPr lvl="1"/>
            <a:r>
              <a:t>Model minimisation keeps the judgement layer solvent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MONIAC</a:t>
            </a:r>
          </a:p>
        </p:txBody>
      </p:sp>
      <p:pic>
        <p:nvPicPr>
          <p:cNvPr id="3" name="Picture 1" descr="/Users/neil/lawrennd/talks/slides/diagrams/simulation/Phillips_and_MONIAC_LSE.jpg"/>
          <p:cNvPicPr>
            <a:picLocks noGrp="1" noChangeAspect="1"/>
          </p:cNvPicPr>
          <p:nvPr/>
        </p:nvPicPr>
        <p:blipFill>
          <a:blip r:embed="rId2"/>
          <a:stretch>
            <a:fillRect/>
          </a:stretch>
        </p:blipFill>
        <p:spPr bwMode="auto">
          <a:xfrm>
            <a:off x="3352800" y="1193800"/>
            <a:ext cx="2451100" cy="3390900"/>
          </a:xfrm>
          <a:prstGeom prst="rect">
            <a:avLst/>
          </a:prstGeom>
          <a:noFill/>
          <a:ln w="9525">
            <a:noFill/>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Human Analogue Machine</a:t>
            </a:r>
          </a:p>
        </p:txBody>
      </p:sp>
      <p:pic>
        <p:nvPicPr>
          <p:cNvPr id="3" name="Picture 1" descr="/Users/neil/lawrennd/talks/slides/diagrams/ai/processor-ham.emf"/>
          <p:cNvPicPr>
            <a:picLocks noGrp="1" noChangeAspect="1"/>
          </p:cNvPicPr>
          <p:nvPr/>
        </p:nvPicPr>
        <p:blipFill>
          <a:blip r:embed="rId2"/>
          <a:stretch>
            <a:fillRect/>
          </a:stretch>
        </p:blipFill>
        <p:spPr bwMode="auto">
          <a:xfrm>
            <a:off x="3429000" y="1193800"/>
            <a:ext cx="2286000" cy="3390900"/>
          </a:xfrm>
          <a:prstGeom prst="rect">
            <a:avLst/>
          </a:prstGeom>
          <a:noFill/>
          <a:ln w="9525">
            <a:noFill/>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HAM</a:t>
            </a:r>
          </a:p>
        </p:txBody>
      </p:sp>
      <p:pic>
        <p:nvPicPr>
          <p:cNvPr id="3" name="Picture 1" descr="/Users/neil/lawrennd/talks/slides/diagrams/data-science/new-flow-of-information004.emf"/>
          <p:cNvPicPr>
            <a:picLocks noGrp="1" noChangeAspect="1"/>
          </p:cNvPicPr>
          <p:nvPr/>
        </p:nvPicPr>
        <p:blipFill>
          <a:blip r:embed="rId2"/>
          <a:stretch>
            <a:fillRect/>
          </a:stretch>
        </p:blipFill>
        <p:spPr bwMode="auto">
          <a:xfrm>
            <a:off x="2628900" y="1193800"/>
            <a:ext cx="3873500" cy="3390900"/>
          </a:xfrm>
          <a:prstGeom prst="rect">
            <a:avLst/>
          </a:prstGeom>
          <a:noFill/>
          <a:ln w="9525">
            <a:noFill/>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HAM</a:t>
            </a:r>
          </a:p>
        </p:txBody>
      </p:sp>
      <p:pic>
        <p:nvPicPr>
          <p:cNvPr id="3" name="Picture 1" descr="/Users/neil/lawrennd/talks/slides/diagrams/data-science/new-flow-of-information-ham.emf"/>
          <p:cNvPicPr>
            <a:picLocks noGrp="1" noChangeAspect="1"/>
          </p:cNvPicPr>
          <p:nvPr/>
        </p:nvPicPr>
        <p:blipFill>
          <a:blip r:embed="rId2"/>
          <a:stretch>
            <a:fillRect/>
          </a:stretch>
        </p:blipFill>
        <p:spPr bwMode="auto">
          <a:xfrm>
            <a:off x="2628900" y="1193800"/>
            <a:ext cx="3873500" cy="3390900"/>
          </a:xfrm>
          <a:prstGeom prst="rect">
            <a:avLst/>
          </a:prstGeom>
          <a:noFill/>
          <a:ln w="9525">
            <a:noFill/>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Networked Interactions</a:t>
            </a:r>
          </a:p>
        </p:txBody>
      </p:sp>
      <p:pic>
        <p:nvPicPr>
          <p:cNvPr id="3" name="Picture 1" descr="/Users/neil/lawrennd/talks/slides/diagrams/ai/human-computers-interacting.emf"/>
          <p:cNvPicPr>
            <a:picLocks noGrp="1" noChangeAspect="1"/>
          </p:cNvPicPr>
          <p:nvPr/>
        </p:nvPicPr>
        <p:blipFill>
          <a:blip r:embed="rId2"/>
          <a:stretch>
            <a:fillRect/>
          </a:stretch>
        </p:blipFill>
        <p:spPr bwMode="auto">
          <a:xfrm>
            <a:off x="2209800" y="1193800"/>
            <a:ext cx="4724400" cy="3390900"/>
          </a:xfrm>
          <a:prstGeom prst="rect">
            <a:avLst/>
          </a:prstGeom>
          <a:noFill/>
          <a:ln w="9525">
            <a:noFill/>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Question Mark Emails</a:t>
            </a:r>
          </a:p>
        </p:txBody>
      </p:sp>
      <p:pic>
        <p:nvPicPr>
          <p:cNvPr id="3" name="Picture 1" descr="/Users/neil/lawrennd/talks/slides/diagrams/business/bezos-question-mark-email.png"/>
          <p:cNvPicPr>
            <a:picLocks noGrp="1" noChangeAspect="1"/>
          </p:cNvPicPr>
          <p:nvPr/>
        </p:nvPicPr>
        <p:blipFill>
          <a:blip r:embed="rId2"/>
          <a:stretch>
            <a:fillRect/>
          </a:stretch>
        </p:blipFill>
        <p:spPr bwMode="auto">
          <a:xfrm>
            <a:off x="2374900" y="1193800"/>
            <a:ext cx="4394200" cy="3390900"/>
          </a:xfrm>
          <a:prstGeom prst="rect">
            <a:avLst/>
          </a:prstGeom>
          <a:noFill/>
          <a:ln w="9525">
            <a:noFill/>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Executive Sponsorship</a:t>
            </a:r>
          </a:p>
        </p:txBody>
      </p:sp>
      <p:sp>
        <p:nvSpPr>
          <p:cNvPr id="3" name="Content Placeholder 2"/>
          <p:cNvSpPr>
            <a:spLocks noGrp="1"/>
          </p:cNvSpPr>
          <p:nvPr>
            <p:ph idx="1"/>
          </p:nvPr>
        </p:nvSpPr>
        <p:spPr/>
        <p:txBody>
          <a:bodyPr/>
          <a:lstStyle/>
          <a:p>
            <a:pPr lvl="1"/>
            <a:r>
              <a:t>Direct sponsorship from the most senior executive.</a:t>
            </a:r>
          </a:p>
          <a:p>
            <a:pPr lvl="2"/>
            <a:r>
              <a:t>This has a cultural effect as well as a direct effect.</a:t>
            </a:r>
          </a:p>
          <a:p>
            <a:pPr lvl="1"/>
            <a:r>
              <a:t>Bring about through </a:t>
            </a:r>
            <a:r>
              <a:rPr i="1"/>
              <a:t>involvement</a:t>
            </a:r>
          </a:p>
          <a:p>
            <a:pPr lvl="2"/>
            <a:r>
              <a:t>develops understanding of capabilities of data science in exec team.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Pathfinder Projects</a:t>
            </a:r>
          </a:p>
        </p:txBody>
      </p:sp>
      <p:sp>
        <p:nvSpPr>
          <p:cNvPr id="3" name="Content Placeholder 2"/>
          <p:cNvSpPr>
            <a:spLocks noGrp="1"/>
          </p:cNvSpPr>
          <p:nvPr>
            <p:ph idx="1"/>
          </p:nvPr>
        </p:nvSpPr>
        <p:spPr/>
        <p:txBody>
          <a:bodyPr/>
          <a:lstStyle/>
          <a:p>
            <a:pPr lvl="1"/>
            <a:r>
              <a:rPr dirty="0"/>
              <a:t>In executive context: an important project that is interdepartmental.</a:t>
            </a:r>
          </a:p>
          <a:p>
            <a:pPr lvl="1"/>
            <a:r>
              <a:rPr dirty="0"/>
              <a:t>Should involve the CEO, CFO, CIO and data science team (or equivalents).</a:t>
            </a:r>
            <a:endParaRPr lang="en-US" dirty="0"/>
          </a:p>
          <a:p>
            <a:pPr lvl="1"/>
            <a:r>
              <a:rPr lang="en-GB" dirty="0"/>
              <a:t>In executive context: an important project that is interdepartmental.</a:t>
            </a:r>
          </a:p>
          <a:p>
            <a:pPr lvl="1"/>
            <a:r>
              <a:rPr lang="en-GB" dirty="0"/>
              <a:t>Should involve the CEO, CFO, CIO and data science team (or equivalents).</a:t>
            </a:r>
          </a:p>
          <a:p>
            <a:pPr lvl="1"/>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Productivity Flywheel</a:t>
            </a:r>
          </a:p>
        </p:txBody>
      </p:sp>
      <p:pic>
        <p:nvPicPr>
          <p:cNvPr id="3" name="Picture 1" descr="/Users/neil/lawrennd/talks/slides/diagrams/economics/productivity-flywheel.emf"/>
          <p:cNvPicPr>
            <a:picLocks noGrp="1" noChangeAspect="1"/>
          </p:cNvPicPr>
          <p:nvPr/>
        </p:nvPicPr>
        <p:blipFill>
          <a:blip r:embed="rId2"/>
          <a:stretch>
            <a:fillRect/>
          </a:stretch>
        </p:blipFill>
        <p:spPr bwMode="auto">
          <a:xfrm>
            <a:off x="2438400" y="1193800"/>
            <a:ext cx="4279900" cy="3390900"/>
          </a:xfrm>
          <a:prstGeom prst="rect">
            <a:avLst/>
          </a:prstGeom>
          <a:noFill/>
          <a:ln w="9525">
            <a:noFill/>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Attention Reinvestment Cycle</a:t>
            </a:r>
          </a:p>
        </p:txBody>
      </p:sp>
      <p:pic>
        <p:nvPicPr>
          <p:cNvPr id="3" name="Picture 1" descr="/Users/neil/lawrennd/talks/slides/diagrams/economics/attention-flywheel.emf"/>
          <p:cNvPicPr>
            <a:picLocks noGrp="1" noChangeAspect="1"/>
          </p:cNvPicPr>
          <p:nvPr/>
        </p:nvPicPr>
        <p:blipFill>
          <a:blip r:embed="rId2"/>
          <a:stretch>
            <a:fillRect/>
          </a:stretch>
        </p:blipFill>
        <p:spPr bwMode="auto">
          <a:xfrm>
            <a:off x="2438400" y="1193800"/>
            <a:ext cx="4279900" cy="3390900"/>
          </a:xfrm>
          <a:prstGeom prst="rect">
            <a:avLst/>
          </a:prstGeom>
          <a:noFill/>
          <a:ln w="9525">
            <a:noFill/>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Supply Chain of Ideas</a:t>
            </a:r>
          </a:p>
        </p:txBody>
      </p:sp>
      <p:sp>
        <p:nvSpPr>
          <p:cNvPr id="3" name="Content Placeholder 2"/>
          <p:cNvSpPr>
            <a:spLocks noGrp="1"/>
          </p:cNvSpPr>
          <p:nvPr>
            <p:ph idx="1"/>
          </p:nvPr>
        </p:nvSpPr>
        <p:spPr/>
        <p:txBody>
          <a:bodyPr>
            <a:normAutofit fontScale="92500"/>
          </a:bodyPr>
          <a:lstStyle/>
          <a:p>
            <a:pPr lvl="1"/>
            <a:r>
              <a:rPr lang="en-GB" dirty="0"/>
              <a:t>Ideas flow from creation to application like physical supply chains</a:t>
            </a:r>
          </a:p>
          <a:p>
            <a:pPr lvl="1"/>
            <a:r>
              <a:rPr lang="en-GB" dirty="0"/>
              <a:t>Parallels with traditional economic supply chain management</a:t>
            </a:r>
          </a:p>
          <a:p>
            <a:pPr lvl="1"/>
            <a:r>
              <a:rPr lang="en-GB" dirty="0"/>
              <a:t>Particularly relevant for IT and AI solutions</a:t>
            </a:r>
          </a:p>
          <a:p>
            <a:pPr lvl="1"/>
            <a:r>
              <a:rPr dirty="0"/>
              <a:t>Current imbalance between supply and demand sides</a:t>
            </a:r>
          </a:p>
          <a:p>
            <a:pPr lvl="2"/>
            <a:r>
              <a:rPr dirty="0"/>
              <a:t>Mismatch between macroeconomic interventions and microeconomic need</a:t>
            </a:r>
          </a:p>
          <a:p>
            <a:pPr lvl="1"/>
            <a:r>
              <a:rPr dirty="0"/>
              <a:t>Over-Focus on solutionism</a:t>
            </a:r>
          </a:p>
          <a:p>
            <a:pPr lvl="2"/>
            <a:r>
              <a:rPr dirty="0"/>
              <a:t>technologies/companies</a:t>
            </a:r>
          </a:p>
          <a:p>
            <a:pPr lvl="1"/>
            <a:r>
              <a:rPr dirty="0"/>
              <a:t>Under-focus on real-world needs … disconnect between </a:t>
            </a:r>
            <a:r>
              <a:rPr i="1" dirty="0"/>
              <a:t>government</a:t>
            </a:r>
            <a:r>
              <a:rPr dirty="0"/>
              <a:t> and </a:t>
            </a:r>
            <a:r>
              <a:rPr i="1" dirty="0"/>
              <a:t>citizens</a:t>
            </a:r>
            <a:r>
              <a:rPr dirty="0"/>
              <a:t> … disconnect between </a:t>
            </a:r>
            <a:r>
              <a:rPr i="1" dirty="0"/>
              <a:t>companies</a:t>
            </a:r>
            <a:r>
              <a:rPr dirty="0"/>
              <a:t> and </a:t>
            </a:r>
            <a:r>
              <a:rPr i="1" dirty="0"/>
              <a:t>customers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Supply Chain of Ideas</a:t>
            </a:r>
          </a:p>
        </p:txBody>
      </p:sp>
      <p:sp>
        <p:nvSpPr>
          <p:cNvPr id="3" name="Content Placeholder 2"/>
          <p:cNvSpPr>
            <a:spLocks noGrp="1"/>
          </p:cNvSpPr>
          <p:nvPr>
            <p:ph idx="1"/>
          </p:nvPr>
        </p:nvSpPr>
        <p:spPr/>
        <p:txBody>
          <a:bodyPr/>
          <a:lstStyle/>
          <a:p>
            <a:pPr lvl="1"/>
            <a:r>
              <a:t>Need to map idea problems demand to idea supply</a:t>
            </a:r>
          </a:p>
          <a:p>
            <a:pPr lvl="1"/>
            <a:r>
              <a:t>Need to understand … problems (demand) … current “stock” of solutions (supply)</a:t>
            </a:r>
          </a:p>
          <a:p>
            <a:pPr lvl="1"/>
            <a:r>
              <a:t>Requires </a:t>
            </a:r>
            <a:r>
              <a:rPr i="1"/>
              <a:t>active management</a:t>
            </a:r>
            <a:r>
              <a:t> of idea resources</a:t>
            </a:r>
          </a:p>
          <a:p>
            <a:pPr lvl="1"/>
            <a:r>
              <a:t>Shape supply to meet demand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Good Regulator theorem</a:t>
            </a:r>
          </a:p>
        </p:txBody>
      </p:sp>
      <p:sp>
        <p:nvSpPr>
          <p:cNvPr id="3" name="Content Placeholder 2"/>
          <p:cNvSpPr>
            <a:spLocks noGrp="1"/>
          </p:cNvSpPr>
          <p:nvPr>
            <p:ph idx="1"/>
          </p:nvPr>
        </p:nvSpPr>
        <p:spPr/>
        <p:txBody>
          <a:bodyPr/>
          <a:lstStyle/>
          <a:p>
            <a:pPr lvl="1"/>
            <a:r>
              <a:t>Every good regulator of a system must be a </a:t>
            </a:r>
            <a:r>
              <a:rPr i="1"/>
              <a:t>model</a:t>
            </a:r>
            <a:r>
              <a:t> of that system.</a:t>
            </a:r>
          </a:p>
          <a:p>
            <a:pPr lvl="1"/>
            <a:r>
              <a:t>The judgement layer is the regulator: it must still </a:t>
            </a:r>
            <a:r>
              <a:rPr i="1"/>
              <a:t>model</a:t>
            </a:r>
            <a:r>
              <a:t> what it oversees.</a:t>
            </a:r>
          </a:p>
          <a:p>
            <a:pPr lvl="1"/>
            <a:r>
              <a:t>If the system outruns the model, regulation fails — even if the tools still run.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we minimise models</a:t>
            </a:r>
          </a:p>
        </p:txBody>
      </p:sp>
      <p:sp>
        <p:nvSpPr>
          <p:cNvPr id="3" name="Content Placeholder 2"/>
          <p:cNvSpPr>
            <a:spLocks noGrp="1"/>
          </p:cNvSpPr>
          <p:nvPr>
            <p:ph idx="1"/>
          </p:nvPr>
        </p:nvSpPr>
        <p:spPr/>
        <p:txBody>
          <a:bodyPr/>
          <a:lstStyle/>
          <a:p>
            <a:pPr lvl="1"/>
            <a:r>
              <a:t>We minimise so that we can </a:t>
            </a:r>
            <a:r>
              <a:rPr i="1"/>
              <a:t>maintain a model</a:t>
            </a:r>
            <a:r>
              <a:t>.</a:t>
            </a:r>
          </a:p>
          <a:p>
            <a:pPr lvl="1"/>
            <a:r>
              <a:t>Smallest decision-relevant representation that still supports oversight.</a:t>
            </a:r>
          </a:p>
          <a:p>
            <a:pPr lvl="1"/>
            <a:r>
              <a:t>Prefer decomposable systems over opaque monoliths.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Against maximisation by default</a:t>
            </a:r>
          </a:p>
        </p:txBody>
      </p:sp>
      <p:sp>
        <p:nvSpPr>
          <p:cNvPr id="3" name="Content Placeholder 2"/>
          <p:cNvSpPr>
            <a:spLocks noGrp="1"/>
          </p:cNvSpPr>
          <p:nvPr>
            <p:ph idx="1"/>
          </p:nvPr>
        </p:nvSpPr>
        <p:spPr/>
        <p:txBody>
          <a:bodyPr/>
          <a:lstStyle/>
          <a:p>
            <a:pPr lvl="1"/>
            <a:r>
              <a:t>“Use the largest model” is a default, not a design.</a:t>
            </a:r>
          </a:p>
          <a:p>
            <a:pPr lvl="1"/>
            <a:r>
              <a:t>Capability without a modellable envelope is how debt compounds.</a:t>
            </a:r>
          </a:p>
          <a:p>
            <a:pPr lvl="1"/>
            <a:r>
              <a:t>Ask: what is the </a:t>
            </a:r>
            <a:r>
              <a:rPr i="1"/>
              <a:t>least</a:t>
            </a:r>
            <a:r>
              <a:t> system that still earns regulated trust?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Two ideas behind commercial progress</a:t>
            </a:r>
          </a:p>
        </p:txBody>
      </p:sp>
      <p:sp>
        <p:nvSpPr>
          <p:cNvPr id="3" name="Content Placeholder 2"/>
          <p:cNvSpPr>
            <a:spLocks noGrp="1"/>
          </p:cNvSpPr>
          <p:nvPr>
            <p:ph idx="1"/>
          </p:nvPr>
        </p:nvSpPr>
        <p:spPr/>
        <p:txBody>
          <a:bodyPr/>
          <a:lstStyle/>
          <a:p>
            <a:pPr lvl="1"/>
            <a:r>
              <a:t>The </a:t>
            </a:r>
            <a:r>
              <a:rPr i="1"/>
              <a:t>unreasonable effectiveness of orchestration</a:t>
            </a:r>
          </a:p>
          <a:p>
            <a:pPr lvl="1"/>
            <a:r>
              <a:t>The </a:t>
            </a:r>
            <a:r>
              <a:rPr i="1"/>
              <a:t>model minimisation</a:t>
            </a:r>
            <a:r>
              <a:t> principle</a:t>
            </a:r>
          </a:p>
          <a:p>
            <a:pPr lvl="1"/>
            <a:r>
              <a:t>Together: harnesses + small models on </a:t>
            </a:r>
            <a:r>
              <a:rPr i="1"/>
              <a:t>cognitive toil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The unreasonable effectiveness of orchestration</a:t>
            </a:r>
          </a:p>
        </p:txBody>
      </p:sp>
      <p:sp>
        <p:nvSpPr>
          <p:cNvPr id="3" name="Content Placeholder 2"/>
          <p:cNvSpPr>
            <a:spLocks noGrp="1"/>
          </p:cNvSpPr>
          <p:nvPr>
            <p:ph idx="1"/>
          </p:nvPr>
        </p:nvSpPr>
        <p:spPr/>
        <p:txBody>
          <a:bodyPr/>
          <a:lstStyle/>
          <a:p>
            <a:pPr lvl="1"/>
            <a:r>
              <a:t>Models emulate human behaviour</a:t>
            </a:r>
          </a:p>
          <a:p>
            <a:pPr lvl="1"/>
            <a:r>
              <a:t>Humans collaborate naturally, so the models to too</a:t>
            </a:r>
          </a:p>
          <a:p>
            <a:pPr lvl="1"/>
            <a:r>
              <a:t>A harness is a set of tools and instructions</a:t>
            </a:r>
          </a:p>
          <a:p>
            <a:pPr lvl="1"/>
            <a:r>
              <a:t>Can be specified by a worker with knowledge of job</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OSCAR</a:t>
            </a:r>
          </a:p>
        </p:txBody>
      </p:sp>
      <p:sp>
        <p:nvSpPr>
          <p:cNvPr id="3" name="Content Placeholder 2"/>
          <p:cNvSpPr>
            <a:spLocks noGrp="1"/>
          </p:cNvSpPr>
          <p:nvPr>
            <p:ph idx="1"/>
          </p:nvPr>
        </p:nvSpPr>
        <p:spPr/>
        <p:txBody>
          <a:bodyPr/>
          <a:lstStyle/>
          <a:p>
            <a:pPr lvl="1"/>
            <a:r>
              <a:rPr>
                <a:hlinkClick r:id="rId2"/>
              </a:rPr>
              <a:t>OSCAR</a:t>
            </a:r>
            <a:r>
              <a:t>: Orchestrated Service &amp; Citizen AI Router</a:t>
            </a:r>
          </a:p>
          <a:p>
            <a:pPr lvl="1"/>
            <a:r>
              <a:t>Peterborough City Council — led by Julian Patmore (Digital &amp; Customer Access)</a:t>
            </a:r>
          </a:p>
          <a:p>
            <a:pPr lvl="1"/>
            <a:r>
              <a:t>A governed harness: routes requests to specialist services; staff keep the judgment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Local Government AI Accelerator</a:t>
            </a:r>
          </a:p>
        </p:txBody>
      </p:sp>
      <p:sp>
        <p:nvSpPr>
          <p:cNvPr id="3" name="Content Placeholder 2"/>
          <p:cNvSpPr>
            <a:spLocks noGrp="1"/>
          </p:cNvSpPr>
          <p:nvPr>
            <p:ph idx="1"/>
          </p:nvPr>
        </p:nvSpPr>
        <p:spPr/>
        <p:txBody>
          <a:bodyPr/>
          <a:lstStyle/>
          <a:p>
            <a:pPr lvl="1"/>
            <a:r>
              <a:t>ai@cam programme with local authorities</a:t>
            </a:r>
          </a:p>
          <a:p>
            <a:pPr lvl="1"/>
            <a:r>
              <a:t>Councils as partners from the outset</a:t>
            </a:r>
          </a:p>
          <a:p>
            <a:pPr lvl="1"/>
            <a:r>
              <a:t>Proof-of-concept AI for real operational needs</a:t>
            </a:r>
          </a:p>
          <a:p>
            <a:pPr lvl="1"/>
            <a:r>
              <a:t>Built on public dialogue about AI in local government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Small models on cognitive toil</a:t>
            </a:r>
          </a:p>
        </p:txBody>
      </p:sp>
      <p:sp>
        <p:nvSpPr>
          <p:cNvPr id="3" name="Content Placeholder 2"/>
          <p:cNvSpPr>
            <a:spLocks noGrp="1"/>
          </p:cNvSpPr>
          <p:nvPr>
            <p:ph idx="1"/>
          </p:nvPr>
        </p:nvSpPr>
        <p:spPr/>
        <p:txBody>
          <a:bodyPr/>
          <a:lstStyle/>
          <a:p>
            <a:pPr lvl="1"/>
            <a:r>
              <a:t>Cognitive toil: high-volume, low-novelty mental work that consumes attention.</a:t>
            </a:r>
          </a:p>
          <a:p>
            <a:pPr lvl="1"/>
            <a:r>
              <a:t>Prefer the </a:t>
            </a:r>
            <a:r>
              <a:rPr i="1"/>
              <a:t>least</a:t>
            </a:r>
            <a:r>
              <a:t> model that handles the routine class reliably.</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introduces and monitors the harness</a:t>
            </a:r>
          </a:p>
        </p:txBody>
      </p:sp>
      <p:sp>
        <p:nvSpPr>
          <p:cNvPr id="3" name="Content Placeholder 2"/>
          <p:cNvSpPr>
            <a:spLocks noGrp="1"/>
          </p:cNvSpPr>
          <p:nvPr>
            <p:ph idx="1"/>
          </p:nvPr>
        </p:nvSpPr>
        <p:spPr/>
        <p:txBody>
          <a:bodyPr/>
          <a:lstStyle/>
          <a:p>
            <a:pPr lvl="1"/>
            <a:r>
              <a:t>Deploy with the people who already </a:t>
            </a:r>
            <a:r>
              <a:rPr i="1"/>
              <a:t>manage that role</a:t>
            </a:r>
            <a:r>
              <a:t>.</a:t>
            </a:r>
          </a:p>
          <a:p>
            <a:pPr lvl="1"/>
            <a:r>
              <a:t>They hold the live model of exceptions, escalation, and “good enough.”</a:t>
            </a:r>
          </a:p>
          <a:p>
            <a:pPr lvl="1"/>
            <a:r>
              <a:t>If they cannot introduce and monitor it, the Good Regulator condition fails.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AI arrives workflow by workflow</a:t>
            </a:r>
          </a:p>
        </p:txBody>
      </p:sp>
      <p:pic>
        <p:nvPicPr>
          <p:cNvPr id="3" name="Picture 2" descr="/Users/neil/lawrennd/talks/slides/diagrams/business/ft-letter-workflow-by-workflow.png">
            <a:extLst>
              <a:ext uri="{FF2B5EF4-FFF2-40B4-BE49-F238E27FC236}">
                <a16:creationId xmlns:a16="http://schemas.microsoft.com/office/drawing/2014/main" id="{620261D9-47C7-5E34-E7C0-31090711D155}"/>
              </a:ext>
            </a:extLst>
          </p:cNvPr>
          <p:cNvPicPr>
            <a:picLocks noGrp="1" noChangeAspect="1"/>
          </p:cNvPicPr>
          <p:nvPr/>
        </p:nvPicPr>
        <p:blipFill>
          <a:blip r:embed="rId2"/>
          <a:stretch>
            <a:fillRect/>
          </a:stretch>
        </p:blipFill>
        <p:spPr bwMode="auto">
          <a:xfrm>
            <a:off x="2387600" y="1193800"/>
            <a:ext cx="4368800" cy="3390900"/>
          </a:xfrm>
          <a:prstGeom prst="rect">
            <a:avLst/>
          </a:prstGeom>
          <a:noFill/>
          <a:ln w="9525">
            <a:noFill/>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 not lose the judgment</a:t>
            </a:r>
          </a:p>
        </p:txBody>
      </p:sp>
      <p:sp>
        <p:nvSpPr>
          <p:cNvPr id="3" name="Content Placeholder 2"/>
          <p:cNvSpPr>
            <a:spLocks noGrp="1"/>
          </p:cNvSpPr>
          <p:nvPr>
            <p:ph idx="1"/>
          </p:nvPr>
        </p:nvSpPr>
        <p:spPr/>
        <p:txBody>
          <a:bodyPr/>
          <a:lstStyle/>
          <a:p>
            <a:pPr lvl="1"/>
            <a:r>
              <a:t>Workflow-by-workflow only works if the </a:t>
            </a:r>
            <a:r>
              <a:rPr i="1"/>
              <a:t>judgment</a:t>
            </a:r>
            <a:r>
              <a:t> stays with the role.</a:t>
            </a:r>
          </a:p>
          <a:p>
            <a:pPr lvl="1"/>
            <a:r>
              <a:t>Automating toil without preserving exceptions makes judgment </a:t>
            </a:r>
            <a:r>
              <a:rPr i="1"/>
              <a:t>invisible</a:t>
            </a:r>
            <a:r>
              <a:t>, not absent.</a:t>
            </a:r>
          </a:p>
          <a:p>
            <a:pPr lvl="1"/>
            <a:r>
              <a:t>That invisibility is how agentic debt begins.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Agentic Debt</a:t>
            </a:r>
          </a:p>
        </p:txBody>
      </p:sp>
      <p:sp>
        <p:nvSpPr>
          <p:cNvPr id="3" name="Content Placeholder 2"/>
          <p:cNvSpPr>
            <a:spLocks noGrp="1"/>
          </p:cNvSpPr>
          <p:nvPr>
            <p:ph idx="1"/>
          </p:nvPr>
        </p:nvSpPr>
        <p:spPr/>
        <p:txBody>
          <a:bodyPr/>
          <a:lstStyle/>
          <a:p>
            <a:pPr lvl="1"/>
            <a:r>
              <a:rPr dirty="0"/>
              <a:t>Agentic AI could </a:t>
            </a:r>
            <a:r>
              <a:rPr i="1" dirty="0"/>
              <a:t>pay down</a:t>
            </a:r>
            <a:r>
              <a:rPr dirty="0"/>
              <a:t> technical and intellectual debt.</a:t>
            </a:r>
          </a:p>
          <a:p>
            <a:pPr lvl="1"/>
            <a:r>
              <a:rPr dirty="0"/>
              <a:t>But it can create </a:t>
            </a:r>
            <a:r>
              <a:rPr i="1" dirty="0"/>
              <a:t>agentic debt</a:t>
            </a:r>
            <a:r>
              <a:rPr dirty="0"/>
              <a:t>: delegation without authority/authorship</a:t>
            </a:r>
            <a:endParaRPr lang="en-US" dirty="0"/>
          </a:p>
          <a:p>
            <a:pPr lvl="1"/>
            <a:r>
              <a:rPr lang="en-GB" dirty="0"/>
              <a:t>Delegation of workflows without crisp boundaries.</a:t>
            </a:r>
          </a:p>
          <a:p>
            <a:pPr lvl="1"/>
            <a:r>
              <a:rPr lang="en-GB" dirty="0"/>
              <a:t>Agentic debt is about unsafe or illegible delegation.</a:t>
            </a:r>
          </a:p>
          <a:p>
            <a:pPr marL="342900" lvl="1" indent="0">
              <a:buNone/>
            </a:pPr>
            <a:endParaRPr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tomic-human/Atomic_H_7_Not_Rocket.png"/>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Strategic Priorities for Leaders</a:t>
            </a:r>
          </a:p>
        </p:txBody>
      </p:sp>
      <p:sp>
        <p:nvSpPr>
          <p:cNvPr id="3" name="Content Placeholder 2"/>
          <p:cNvSpPr>
            <a:spLocks noGrp="1"/>
          </p:cNvSpPr>
          <p:nvPr>
            <p:ph idx="1"/>
          </p:nvPr>
        </p:nvSpPr>
        <p:spPr/>
        <p:txBody>
          <a:bodyPr/>
          <a:lstStyle/>
          <a:p>
            <a:pPr lvl="1"/>
            <a:r>
              <a:t>People first, not AI first</a:t>
            </a:r>
          </a:p>
          <a:p>
            <a:pPr lvl="1"/>
            <a:r>
              <a:t>Prefer harnesses and small models for cognitive toil</a:t>
            </a:r>
          </a:p>
          <a:p>
            <a:pPr lvl="1"/>
            <a:r>
              <a:t>Let role-holders introduce and monitor those harnesses</a:t>
            </a:r>
          </a:p>
          <a:p>
            <a:pPr lvl="1"/>
            <a:r>
              <a:t>Watch for agentic debt as systems begin to act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AI cannot replace atomic human</a:t>
            </a:r>
          </a:p>
        </p:txBody>
      </p:sp>
      <p:pic>
        <p:nvPicPr>
          <p:cNvPr id="3" name="Picture 1" descr="/Users/neil/lawrennd/talks/slides/diagrams/business/ft-opinion-neil-lawrence.png"/>
          <p:cNvPicPr>
            <a:picLocks noGrp="1" noChangeAspect="1"/>
          </p:cNvPicPr>
          <p:nvPr/>
        </p:nvPicPr>
        <p:blipFill>
          <a:blip r:embed="rId2"/>
          <a:stretch>
            <a:fillRect/>
          </a:stretch>
        </p:blipFill>
        <p:spPr bwMode="auto">
          <a:xfrm>
            <a:off x="2387600" y="1193800"/>
            <a:ext cx="4368800" cy="3390900"/>
          </a:xfrm>
          <a:prstGeom prst="rect">
            <a:avLst/>
          </a:prstGeom>
          <a:noFill/>
          <a:ln w="9525">
            <a:noFill/>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Commercial Imperative</a:t>
            </a:r>
          </a:p>
        </p:txBody>
      </p:sp>
      <p:sp>
        <p:nvSpPr>
          <p:cNvPr id="3" name="Content Placeholder 2"/>
          <p:cNvSpPr>
            <a:spLocks noGrp="1"/>
          </p:cNvSpPr>
          <p:nvPr>
            <p:ph idx="1"/>
          </p:nvPr>
        </p:nvSpPr>
        <p:spPr/>
        <p:txBody>
          <a:bodyPr/>
          <a:lstStyle/>
          <a:p>
            <a:pPr lvl="1"/>
            <a:r>
              <a:t>Human attention is the differentiator</a:t>
            </a:r>
          </a:p>
          <a:p>
            <a:pPr lvl="1"/>
            <a:r>
              <a:t>Adapt human capital — do not only automate tasks</a:t>
            </a:r>
          </a:p>
          <a:p>
            <a:pPr lvl="1"/>
            <a:r>
              <a:t>Use AI on hard problems, not only on easy ones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Wicked Problems</a:t>
            </a:r>
          </a:p>
        </p:txBody>
      </p:sp>
      <p:pic>
        <p:nvPicPr>
          <p:cNvPr id="3" name="Picture 1" descr="/Users/neil/lawrennd/talks/slides/diagrams/atomic-human/Atomic_H_Epilogue.png"/>
          <p:cNvPicPr>
            <a:picLocks noGrp="1" noChangeAspect="1"/>
          </p:cNvPicPr>
          <p:nvPr/>
        </p:nvPicPr>
        <p:blipFill>
          <a:blip r:embed="rId2"/>
          <a:stretch>
            <a:fillRect/>
          </a:stretch>
        </p:blipFill>
        <p:spPr bwMode="auto">
          <a:xfrm>
            <a:off x="2159000" y="1193800"/>
            <a:ext cx="4813300" cy="3390900"/>
          </a:xfrm>
          <a:prstGeom prst="rect">
            <a:avLst/>
          </a:prstGeom>
          <a:noFill/>
          <a:ln w="9525">
            <a:noFill/>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rs/neil/lawrennd/talks/slides/diagrams/atomic-human/Atomic_H_11_Human_Analogue.png"/>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Takeaways</a:t>
            </a:r>
          </a:p>
        </p:txBody>
      </p:sp>
      <p:sp>
        <p:nvSpPr>
          <p:cNvPr id="3" name="Content Placeholder 2"/>
          <p:cNvSpPr>
            <a:spLocks noGrp="1"/>
          </p:cNvSpPr>
          <p:nvPr>
            <p:ph idx="1"/>
          </p:nvPr>
        </p:nvSpPr>
        <p:spPr/>
        <p:txBody>
          <a:bodyPr/>
          <a:lstStyle/>
          <a:p>
            <a:pPr lvl="1"/>
            <a:r>
              <a:t>Commercial progress is harnesses + small models on cognitive toil</a:t>
            </a:r>
          </a:p>
          <a:p>
            <a:pPr lvl="1"/>
            <a:r>
              <a:t>Good Regulator: minimise so judgement can still model the system</a:t>
            </a:r>
          </a:p>
          <a:p>
            <a:pPr lvl="1"/>
            <a:r>
              <a:t>Advantage sits in the atomic human contribution</a:t>
            </a:r>
          </a:p>
          <a:p>
            <a:pPr lvl="1"/>
            <a:r>
              <a:t>Agentic debt accrues when regulation runs without a live model</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Questions</a:t>
            </a:r>
          </a:p>
        </p:txBody>
      </p:sp>
      <p:sp>
        <p:nvSpPr>
          <p:cNvPr id="3" name="Content Placeholder 2"/>
          <p:cNvSpPr>
            <a:spLocks noGrp="1"/>
          </p:cNvSpPr>
          <p:nvPr>
            <p:ph idx="1"/>
          </p:nvPr>
        </p:nvSpPr>
        <p:spPr/>
        <p:txBody>
          <a:bodyPr/>
          <a:lstStyle/>
          <a:p>
            <a:pPr lvl="1"/>
            <a:r>
              <a:t>What will you stop automating?</a:t>
            </a:r>
          </a:p>
          <a:p>
            <a:pPr lvl="1"/>
            <a:r>
              <a:t>What will you redesign first?</a:t>
            </a:r>
          </a:p>
          <a:p>
            <a:pPr lvl="1"/>
            <a:r>
              <a:t>Where should human judgment remain non-negotiable?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Thanks!</a:t>
            </a:r>
          </a:p>
        </p:txBody>
      </p:sp>
      <p:sp>
        <p:nvSpPr>
          <p:cNvPr id="3" name="Content Placeholder 2"/>
          <p:cNvSpPr>
            <a:spLocks noGrp="1"/>
          </p:cNvSpPr>
          <p:nvPr>
            <p:ph idx="1"/>
          </p:nvPr>
        </p:nvSpPr>
        <p:spPr/>
        <p:txBody>
          <a:bodyPr>
            <a:normAutofit fontScale="55000" lnSpcReduction="20000"/>
          </a:bodyPr>
          <a:lstStyle/>
          <a:p>
            <a:pPr lvl="1"/>
            <a:r>
              <a:t>company: </a:t>
            </a:r>
            <a:r>
              <a:rPr>
                <a:hlinkClick r:id="rId2"/>
              </a:rPr>
              <a:t>Trent AI</a:t>
            </a:r>
          </a:p>
          <a:p>
            <a:pPr lvl="1"/>
            <a:r>
              <a:t>book: </a:t>
            </a:r>
            <a:r>
              <a:rPr>
                <a:hlinkClick r:id="rId3"/>
              </a:rPr>
              <a:t>The Atomic Human</a:t>
            </a:r>
          </a:p>
          <a:p>
            <a:pPr lvl="1"/>
            <a:r>
              <a:t>twitter: </a:t>
            </a:r>
            <a:r>
              <a:rPr>
                <a:hlinkClick r:id="rId4"/>
              </a:rPr>
              <a:t>@lawrennd</a:t>
            </a:r>
          </a:p>
          <a:p>
            <a:pPr lvl="1"/>
            <a:r>
              <a:rPr>
                <a:hlinkClick r:id="rId5"/>
              </a:rPr>
              <a:t>The Atomic Human</a:t>
            </a:r>
            <a:r>
              <a:t> pages atomic human, the 13 , baby shoes 368, topography, information 34-9, 43-8, 57, 62, 104, 115-16, 127, 140, 192, 196, 199, 291, 334, 354-5, anthropomorphization (‘anthrox’) 30-31, 90-91, 93-4, 100, 132, 148, 153, 163, 216-17, 239, 276, 326, 342, trust 43, 79, 100, embodiment factor 13, 29, 35, 79, 87, 105, 197, 216-217, 249, 269, 327, 353, 363, 369, topography, information 34-9, 43-8, 57, 62, 104, 115-16, 127, 140, 192, 196, 199, 291, 334, 354-5, Horizon scandal 371, MONIAC 232-233, 266, 343, ignorance: HAMs 347, test pilot 163-8, 189, 190, 192-3, 196, 197, 200, 211, 245, human-analogue machine (HAMs) 343-347, 359-359, 365-368.</a:t>
            </a:r>
          </a:p>
          <a:p>
            <a:pPr lvl="1"/>
            <a:r>
              <a:rPr>
                <a:hlinkClick r:id="rId6"/>
              </a:rPr>
              <a:t>A mistake markets make when they value software groups</a:t>
            </a:r>
          </a:p>
          <a:p>
            <a:pPr lvl="1"/>
            <a:r>
              <a:t>blog posts:</a:t>
            </a:r>
          </a:p>
          <a:p>
            <a:pPr lvl="1">
              <a:buNone/>
            </a:pPr>
            <a:r>
              <a:rPr>
                <a:hlinkClick r:id="rId7"/>
              </a:rPr>
              <a:t>Dan Andrews image of our reflective obsession with AI</a:t>
            </a:r>
          </a:p>
          <a:p>
            <a:pPr lvl="1">
              <a:buNone/>
            </a:pPr>
            <a:r>
              <a:rPr>
                <a:hlinkClick r:id="rId8"/>
              </a:rPr>
              <a:t>Dan Andrews image from Chapter 3</a:t>
            </a:r>
          </a:p>
          <a:p>
            <a:pPr lvl="1">
              <a:buNone/>
            </a:pPr>
            <a:r>
              <a:rPr>
                <a:hlinkClick r:id="rId8"/>
              </a:rPr>
              <a:t>Dan Andrews image from Chapter 3</a:t>
            </a:r>
          </a:p>
          <a:p>
            <a:pPr lvl="1">
              <a:buNone/>
            </a:pPr>
            <a:r>
              <a:rPr>
                <a:hlinkClick r:id="rId9"/>
              </a:rPr>
              <a:t>Balancing Reflective and Reflexive</a:t>
            </a:r>
          </a:p>
          <a:p>
            <a:pPr lvl="1">
              <a:buNone/>
            </a:pPr>
            <a:r>
              <a:rPr>
                <a:hlinkClick r:id="rId10"/>
              </a:rPr>
              <a:t>Racing, Fast and Slow</a:t>
            </a:r>
          </a:p>
          <a:p>
            <a:pPr lvl="1">
              <a:buNone/>
            </a:pPr>
            <a:r>
              <a:rPr>
                <a:hlinkClick r:id="rId11"/>
              </a:rPr>
              <a:t>Who is Stepping Up?</a:t>
            </a:r>
          </a:p>
          <a:p>
            <a:pPr lvl="1">
              <a:buNone/>
            </a:pPr>
            <a:r>
              <a:rPr>
                <a:hlinkClick r:id="rId12"/>
              </a:rPr>
              <a:t>Playing in People’s Backyards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References</a:t>
            </a:r>
          </a:p>
        </p:txBody>
      </p:sp>
      <p:sp>
        <p:nvSpPr>
          <p:cNvPr id="3" name="Content Placeholder 2"/>
          <p:cNvSpPr>
            <a:spLocks noGrp="1"/>
          </p:cNvSpPr>
          <p:nvPr>
            <p:ph idx="1"/>
          </p:nvPr>
        </p:nvSpPr>
        <p:spPr/>
        <p:txBody>
          <a:bodyPr/>
          <a:lstStyle/>
          <a:p>
            <a:pPr marL="0" lvl="0" indent="0">
              <a:buNone/>
            </a:pPr>
            <a:r>
              <a:t>Conway, M.E., n.d. How do committees invent? Datamation 14, 28–31.</a:t>
            </a:r>
          </a:p>
          <a:p>
            <a:pPr marL="0" lvl="0" indent="0">
              <a:buNone/>
            </a:pPr>
            <a:r>
              <a:t>Simon, H.A., 1971. Designing organizations for an information-rich world. Johns Hopkins University Press, Baltimore, MD.</a:t>
            </a:r>
          </a:p>
        </p:txBody>
      </p:sp>
    </p:spTree>
  </p:cSld>
  <p:clrMapOvr>
    <a:masterClrMapping/>
  </p:clrMapOvr>
</p:sld>
</file>

<file path=ppt/theme/theme1.xml><?xml version="1.0" encoding="utf-8"?>
<a:theme xmlns:a="http://schemas.openxmlformats.org/drawingml/2006/main" name="Office Theme">
  <a:themeElements>
    <a:clrScheme name="MollerSimple">
      <a:dk1>
        <a:srgbClr val="4D4D4F"/>
      </a:dk1>
      <a:lt1>
        <a:srgbClr val="FFFFFF"/>
      </a:lt1>
      <a:dk2>
        <a:srgbClr val="ED1847"/>
      </a:dk2>
      <a:lt2>
        <a:srgbClr val="E6E7E8"/>
      </a:lt2>
      <a:accent1>
        <a:srgbClr val="ED1847"/>
      </a:accent1>
      <a:accent2>
        <a:srgbClr val="808285"/>
      </a:accent2>
      <a:accent3>
        <a:srgbClr val="4D4D4F"/>
      </a:accent3>
      <a:accent4>
        <a:srgbClr val="B1B3B6"/>
      </a:accent4>
      <a:accent5>
        <a:srgbClr val="F2F2F2"/>
      </a:accent5>
      <a:accent6>
        <a:srgbClr val="FFFFFF"/>
      </a:accent6>
      <a:hlink>
        <a:srgbClr val="ED1847"/>
      </a:hlink>
      <a:folHlink>
        <a:srgbClr val="F8AABB"/>
      </a:folHlink>
    </a:clrScheme>
    <a:fontScheme name="Moller">
      <a:majorFont>
        <a:latin typeface="Myriad Pr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yriad Pro Ligh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1753</Words>
  <Application>Microsoft Macintosh PowerPoint</Application>
  <PresentationFormat>On-screen Show (16:9)</PresentationFormat>
  <Paragraphs>219</Paragraphs>
  <Slides>86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Myriad Pro</vt:lpstr>
      <vt:lpstr>Myriad Pro Light</vt:lpstr>
      <vt:lpstr>Office Theme</vt:lpstr>
      <vt:lpstr>Artificial Intelligence and Commercial Applications</vt:lpstr>
      <vt:lpstr>Today’s Arc</vt:lpstr>
      <vt:lpstr>Part 1: What AI Is (and Isn’t) for Commercial Leaders</vt:lpstr>
      <vt:lpstr>PowerPoint Presentation</vt:lpstr>
      <vt:lpstr>PowerPoint Presentation</vt:lpstr>
      <vt:lpstr>PowerPoint Presentation</vt:lpstr>
      <vt:lpstr>Information and Embodiment</vt:lpstr>
      <vt:lpstr>Communication Bandwidth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Homo Atomicus</vt:lpstr>
      <vt:lpstr>Discussion</vt:lpstr>
      <vt:lpstr>Part 2: Commercial Applications and Organisational Change</vt:lpstr>
      <vt:lpstr>PowerPoint Presentation</vt:lpstr>
      <vt:lpstr>The Attention Economy</vt:lpstr>
      <vt:lpstr>Herbert Simon on Information</vt:lpstr>
      <vt:lpstr>PowerPoint Presentation</vt:lpstr>
      <vt:lpstr>PowerPoint Presentation</vt:lpstr>
      <vt:lpstr>PowerPoint Presentation</vt:lpstr>
      <vt:lpstr>PowerPoint Presentation</vt:lpstr>
      <vt:lpstr>Institutional Character</vt:lpstr>
      <vt:lpstr>Bezos memo to Amazon in 2002</vt:lpstr>
      <vt:lpstr>Bezos memo to Amazon in 2002</vt:lpstr>
      <vt:lpstr>Duality of Corporation and Information</vt:lpstr>
      <vt:lpstr>Conway’s Law</vt:lpstr>
      <vt:lpstr>Amazon and Agility</vt:lpstr>
      <vt:lpstr>Alternative Culture: Cambridge</vt:lpstr>
      <vt:lpstr>Organisational Data Science</vt:lpstr>
      <vt:lpstr>Cultural Transplant</vt:lpstr>
      <vt:lpstr>How Information Flows in Organisations</vt:lpstr>
      <vt:lpstr>Hub-and-Spoke</vt:lpstr>
      <vt:lpstr>Peer-to-Peer</vt:lpstr>
      <vt:lpstr>Information and Money Flow Together</vt:lpstr>
      <vt:lpstr>Training and Culture as Hub</vt:lpstr>
      <vt:lpstr>Autonomy Depends on Trust</vt:lpstr>
      <vt:lpstr>Trust, Autonomy and Embodiment</vt:lpstr>
      <vt:lpstr>PowerPoint Presentation</vt:lpstr>
      <vt:lpstr>The Horizon scandal</vt:lpstr>
      <vt:lpstr>The Automation Challenge</vt:lpstr>
      <vt:lpstr>Good Process Drives Purpose</vt:lpstr>
      <vt:lpstr>Two Types of Stochastic Parrot</vt:lpstr>
      <vt:lpstr>Discussion</vt:lpstr>
      <vt:lpstr>Part 3: Recent Developments and Future Directions</vt:lpstr>
      <vt:lpstr>Recent Developments</vt:lpstr>
      <vt:lpstr>The MONIAC</vt:lpstr>
      <vt:lpstr>Human Analogue Machine</vt:lpstr>
      <vt:lpstr>HAM</vt:lpstr>
      <vt:lpstr>HAM</vt:lpstr>
      <vt:lpstr>Networked Interactions</vt:lpstr>
      <vt:lpstr>Question Mark Emails</vt:lpstr>
      <vt:lpstr>Executive Sponsorship</vt:lpstr>
      <vt:lpstr>Pathfinder Projects</vt:lpstr>
      <vt:lpstr>Productivity Flywheel</vt:lpstr>
      <vt:lpstr>Attention Reinvestment Cycle</vt:lpstr>
      <vt:lpstr>Supply Chain of Ideas</vt:lpstr>
      <vt:lpstr>Supply Chain of Ideas</vt:lpstr>
      <vt:lpstr>The Good Regulator theorem</vt:lpstr>
      <vt:lpstr>Why we minimise models</vt:lpstr>
      <vt:lpstr>Against maximisation by default</vt:lpstr>
      <vt:lpstr>Two ideas behind commercial progress</vt:lpstr>
      <vt:lpstr>The unreasonable effectiveness of orchestration</vt:lpstr>
      <vt:lpstr>Example: OSCAR</vt:lpstr>
      <vt:lpstr>Local Government AI Accelerator</vt:lpstr>
      <vt:lpstr>Small models on cognitive toil</vt:lpstr>
      <vt:lpstr>Who introduces and monitors the harness</vt:lpstr>
      <vt:lpstr>AI arrives workflow by workflow</vt:lpstr>
      <vt:lpstr>Do not lose the judgment</vt:lpstr>
      <vt:lpstr>Agentic Debt</vt:lpstr>
      <vt:lpstr>PowerPoint Presentation</vt:lpstr>
      <vt:lpstr>Strategic Priorities for Leaders</vt:lpstr>
      <vt:lpstr>AI cannot replace atomic human</vt:lpstr>
      <vt:lpstr>The Commercial Imperative</vt:lpstr>
      <vt:lpstr>Wicked Problems</vt:lpstr>
      <vt:lpstr>PowerPoint Presentation</vt:lpstr>
      <vt:lpstr>Takeaways</vt:lpstr>
      <vt:lpstr>Questions</vt:lpstr>
      <vt:lpstr>Thanks!</vt:lpstr>
      <vt:lpstr>References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and Commercial Applications</dc:title>
  <dc:creator/>
  <cp:keywords/>
  <cp:lastModifiedBy>Neil Lawrence</cp:lastModifiedBy>
  <cp:revision>1</cp:revision>
  <dcterms:created xsi:type="dcterms:W3CDTF">2026-10-13T15:55:30Z</dcterms:created>
  <dcterms:modified xsi:type="dcterms:W3CDTF">2026-10-13T16:17:58Z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Artificial intelligence is reshaping commercial opportunity at a pace that outstrips most strategic frameworks. For senior executives and entrepreneurs, the practical question is not whether AI matters, but how to deploy it without confusing machine capability with human judgment.Drawing on The Atomic Human, this session explores what AI actually is — and what it is not — through the lens of information bandwidth, attention, and organisational decision-making. We examine commercial applications of recent generative systems, why superficial automation often fails, and how leaders can redesign information flows so that human attention remains the scarce resource that creates durable advantage.The session closes with future directions: human-analogue machines as interfaces, the risks of agentic debt, and a people-first approach to AI strategy that Chinese and global firms can apply as they navigate a rapidly changing commercial landscape.</vt:lpwstr>
  </property>
  <property fmtid="{D5CDD505-2E9C-101B-9397-08002B2CF9AE}" pid="3" name="bibliography">
    <vt:lpwstr/>
  </property>
  <property fmtid="{D5CDD505-2E9C-101B-9397-08002B2CF9AE}" pid="4" name="csl">
    <vt:lpwstr>/Users/neil/lawrennd/lamd/lamd/includes/elsevier-harvard.csl</vt:lpwstr>
  </property>
  <property fmtid="{D5CDD505-2E9C-101B-9397-08002B2CF9AE}" pid="5" name="date">
    <vt:lpwstr>2026-10-27</vt:lpwstr>
  </property>
  <property fmtid="{D5CDD505-2E9C-101B-9397-08002B2CF9AE}" pid="6" name="duration">
    <vt:lpwstr>90</vt:lpwstr>
  </property>
  <property fmtid="{D5CDD505-2E9C-101B-9397-08002B2CF9AE}" pid="7" name="geometry">
    <vt:lpwstr/>
  </property>
  <property fmtid="{D5CDD505-2E9C-101B-9397-08002B2CF9AE}" pid="8" name="papersize">
    <vt:lpwstr>a4paper</vt:lpwstr>
  </property>
  <property fmtid="{D5CDD505-2E9C-101B-9397-08002B2CF9AE}" pid="9" name="potx">
    <vt:lpwstr>../_includes/moller-simple-reference.potx</vt:lpwstr>
  </property>
  <property fmtid="{D5CDD505-2E9C-101B-9397-08002B2CF9AE}" pid="10" name="pptx">
    <vt:lpwstr>True</vt:lpwstr>
  </property>
  <property fmtid="{D5CDD505-2E9C-101B-9397-08002B2CF9AE}" pid="11" name="reveal">
    <vt:lpwstr>True</vt:lpwstr>
  </property>
  <property fmtid="{D5CDD505-2E9C-101B-9397-08002B2CF9AE}" pid="12" name="subtitle">
    <vt:lpwstr>Recent Developments, Future Directions, and the Atomic Human</vt:lpwstr>
  </property>
  <property fmtid="{D5CDD505-2E9C-101B-9397-08002B2CF9AE}" pid="13" name="talktheme">
    <vt:lpwstr>white</vt:lpwstr>
  </property>
  <property fmtid="{D5CDD505-2E9C-101B-9397-08002B2CF9AE}" pid="14" name="transition">
    <vt:lpwstr>None</vt:lpwstr>
  </property>
  <property fmtid="{D5CDD505-2E9C-101B-9397-08002B2CF9AE}" pid="15" name="venue">
    <vt:lpwstr>CEIBS Global CEO Programme, Møller Institute, Churchill College, Cambridge</vt:lpwstr>
  </property>
</Properties>
</file>